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66" r:id="rId5"/>
    <p:sldId id="267" r:id="rId6"/>
    <p:sldId id="259" r:id="rId7"/>
    <p:sldId id="274" r:id="rId22"/>
    <p:sldId id="260" r:id="rId8"/>
    <p:sldId id="261" r:id="rId9"/>
    <p:sldId id="275" r:id="rId23"/>
    <p:sldId id="262" r:id="rId10"/>
    <p:sldId id="277" r:id="rId25"/>
    <p:sldId id="276" r:id="rId24"/>
    <p:sldId id="263" r:id="rId11"/>
    <p:sldId id="283" r:id="rId31"/>
    <p:sldId id="282" r:id="rId30"/>
    <p:sldId id="281" r:id="rId29"/>
    <p:sldId id="280" r:id="rId28"/>
    <p:sldId id="279" r:id="rId27"/>
    <p:sldId id="284" r:id="rId4"/>
    <p:sldId id="278" r:id="rId26"/>
    <p:sldId id="285" r:id="rId32"/>
    <p:sldId id="287" r:id="rId34"/>
    <p:sldId id="286" r:id="rId33"/>
    <p:sldId id="271" r:id="rId12"/>
    <p:sldId id="270" r:id="rId13"/>
    <p:sldId id="272" r:id="rId14"/>
    <p:sldId id="273" r:id="rId15"/>
    <p:sldId id="264"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16" autoAdjust="0"/>
    <p:restoredTop sz="94660"/>
  </p:normalViewPr>
  <p:slideViewPr>
    <p:cSldViewPr snapToGrid="0">
      <p:cViewPr varScale="1">
        <p:scale>
          <a:sx n="113" d="100"/>
          <a:sy n="113" d="100"/>
        </p:scale>
        <p:origin x="222"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19.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10.xml"/><Relationship Id="rId11" Type="http://schemas.openxmlformats.org/officeDocument/2006/relationships/slide" Target="slides/slide13.xml"/><Relationship Id="rId12" Type="http://schemas.openxmlformats.org/officeDocument/2006/relationships/slide" Target="slides/slide23.xml"/><Relationship Id="rId13" Type="http://schemas.openxmlformats.org/officeDocument/2006/relationships/slide" Target="slides/slide24.xml"/><Relationship Id="rId14" Type="http://schemas.openxmlformats.org/officeDocument/2006/relationships/slide" Target="slides/slide25.xml"/><Relationship Id="rId15" Type="http://schemas.openxmlformats.org/officeDocument/2006/relationships/slide" Target="slides/slide26.xml"/><Relationship Id="rId16" Type="http://schemas.openxmlformats.org/officeDocument/2006/relationships/slide" Target="slides/slide27.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6.xml"/><Relationship Id="rId23" Type="http://schemas.openxmlformats.org/officeDocument/2006/relationships/slide" Target="slides/slide9.xml"/><Relationship Id="rId24" Type="http://schemas.openxmlformats.org/officeDocument/2006/relationships/slide" Target="slides/slide12.xml"/><Relationship Id="rId25" Type="http://schemas.openxmlformats.org/officeDocument/2006/relationships/slide" Target="slides/slide11.xml"/><Relationship Id="rId26" Type="http://schemas.openxmlformats.org/officeDocument/2006/relationships/slide" Target="slides/slide20.xml"/><Relationship Id="rId27" Type="http://schemas.openxmlformats.org/officeDocument/2006/relationships/slide" Target="slides/slide18.xml"/><Relationship Id="rId28" Type="http://schemas.openxmlformats.org/officeDocument/2006/relationships/slide" Target="slides/slide17.xml"/><Relationship Id="rId29" Type="http://schemas.openxmlformats.org/officeDocument/2006/relationships/slide" Target="slides/slide16.xml"/><Relationship Id="rId30" Type="http://schemas.openxmlformats.org/officeDocument/2006/relationships/slide" Target="slides/slide15.xml"/><Relationship Id="rId31" Type="http://schemas.openxmlformats.org/officeDocument/2006/relationships/slide" Target="slides/slide14.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7B3DCA-6C69-493F-A03F-730B73AF939C}" type="datetimeFigureOut">
              <a:rPr lang="en-IN" smtClean="0"/>
              <a:t>20-02-2025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773D98-6EB4-47AB-B8AD-3212471361BA}" type="slidenum">
              <a:rPr lang="en-IN" smtClean="0"/>
              <a:t>‹#›</a:t>
            </a:fld>
            <a:endParaRPr lang="en-IN"/>
          </a:p>
        </p:txBody>
      </p:sp>
    </p:spTree>
    <p:extLst>
      <p:ext uri="{BB962C8B-B14F-4D97-AF65-F5344CB8AC3E}">
        <p14:creationId xmlns:p14="http://schemas.microsoft.com/office/powerpoint/2010/main" val="3676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Good morning. We are presenting FL-IDS: an intrusion detection system for IoT and industrial IoT networks that learns across many sites without collecting their traffic, resists poisoned training, catches attacks it has never seen, and blocks attackers on the network switch.</a:t>
            </a:r>
          </a:p>
        </p:txBody>
      </p:sp>
      <p:sp>
        <p:nvSpPr>
          <p:cNvPr id="4" name="Slide Number Placeholder 3"/>
          <p:cNvSpPr>
            <a:spLocks noGrp="1"/>
          </p:cNvSpPr>
          <p:nvPr>
            <p:ph type="sldNum" sz="quarter" idx="10"/>
          </p:nvPr>
        </p:nvSpPr>
        <p:spPr/>
        <p:txBody>
          <a:bodyPr/>
          <a:lstStyle/>
          <a:p>
            <a:fld id="{8B773D98-6EB4-47AB-B8AD-3212471361BA}" type="slidenum">
              <a:rPr lang="en-IN" smtClean="0"/>
              <a:t>1</a:t>
            </a:fld>
            <a:endParaRPr lang="en-IN"/>
          </a:p>
        </p:txBody>
      </p:sp>
    </p:spTree>
    <p:extLst>
      <p:ext uri="{BB962C8B-B14F-4D97-AF65-F5344CB8AC3E}">
        <p14:creationId xmlns:p14="http://schemas.microsoft.com/office/powerpoint/2010/main" val="1883649561"/>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flow of the talk: the problem, the design, how we implemented it, the results, and what comes next.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Sustainable Development Goals. SDG 9: we make network infrastructure more secure and support smart systems. SDG 11: smart cities run on IoT, in traffic systems, healthcare and energy grids, and securing it keeps that urban infrastructure safe and reliable. SDG 16: the project strengthens cybersecurity and protects sensitive data. Together, these promote secure and resilient digital ecosystems.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not a multidisciplinary or community-oriented project; it sits within computer science and engineering. We had no external collaborator; all experiments use a public dataset recorded on a real IoT testbed.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problems with existing intrusion detection for IoT. Privacy: central collection of raw traffic. New attacks: classifiers only know their training labels. Sabotage: shared training can be poisoned. No action: a detector that only raises alerts doesn't stop anything. Our goal was one system for all four, with at least 95% accuracy and 0.95 macro F1. Macro F1 means every attack type counts equally, so a model can't hide poor results on rare attacks behind the large amount of normal traffic.</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four objectives. One: detect and filter malicious clients in federated training, using trust-based evaluation. Two: a lightweight, privacy-aware federated learning design that keeps computation and communication low on IoT hardware. Three: model optimization such as weight pruning for scalability; our model is already small, and pruning itself is future work. Four: autoencoder-based anomaly detection that does not depend only on labelled data, so it can flag new or poisoned patterns.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big picture has two phases. In Phase A, ten sites each train a copy of the detector on their own traffic and send only the model updates to the server. The server checks each update, throws out suspicious ones and combines the rest. The trained detector is saved. In Phase B we load it on an emulated network: traffic is checked live, and when an attack is found the switch gets a rule to block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packet goes through two checks. Check 1 is a LightGBM classifier that knows the 14 attack types; if it is at least 70% sure it's an attack, that is the answer. Otherwise Check 2 runs: an autoencoder that has learned what this site's normal traffic looks like. If the packet is too different from normal, it is flagged as anomalous, which is how we catch attacks nobody trained us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federated learning with a trust filter. Each round the server sends the current model out, each site trains on its own data, and sends back only how its model changed. The server compares every change with the typical change across all sites using cosine similarity. A change that points the opposite way, is an outlier, or comes from a site that keeps disagreeing is dropped. The rest are size-limited and combined with a trimmed mean, which ignores the extremes.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tools for each part. Everything is open source and runs on one laptop inside a virtual machine.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 steps from raw data to a blocked attacker. Steps 1 to 3 prepare the data, including fixing two errors in the public dataset: broken MITM rows we found, and a label leak first reported by Galal. Step 4 trains the classifier. Steps 5 and 6 are federated training across ten simulated sites. Step 7 evaluates everything, and step 8 is the live demo.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main improvement this semester. The classifier was stuck at about 0.89 macro F1 because most packets of web attacks carry no content: they are empty acknowledgements that look the same for every attack. We added three kinds of information: which service a connection is for, numbers describing what was sent, and how the whole connection behaved. Then each empty packet carries what its connection did. We also weighted rare attack types more. We deliberately never used IP addresses or timestamps, because in this dataset they would reveal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dataset is Edge-IIoTset: about two million packets after cleaning, fifteen classes, 71% normal traffic. The classifier is trained on 1.43 million of them and tested on 397 thousand it never saw. The federated part first ran on a 60 thousand row sample; the main results now use the whole pool, about 1.89 million rows, with each conversation kept together. We test strictly, on whole connections never seen in training, and repeat with three seeds. Before any of this we fixed two errors in the public data. One was a formatting difference that alone separated normal from attack traffic perfectly; Galal reported it first, in August 2026, and we credit that paper. The other, MITM rows stored under the wrong column names, we found and repaired ourselves.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headline result. With the original features, accuracy was 96.4% but macro F1 only 0.889. Each new kind of information pushes it up; the connection features give the big jump. The final classifier reaches 99.7% accuracy and 0.983 macro F1 on connections it never saw, well above the 95% target. It holds across three seeds, and even when trained on only 5% of the data, which is what our server actually holds.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confusion matrix shows where the model is right and wrong. Each row is the real class and each column the prediction, so a perfect model is a dark diagonal. Ours is almost entirely diagonal. The only visible mix-ups are between Password attacks and HTTP floods, which both send web requests to the same server, and Ransomware sometimes taken for Backdoor because they use the same port.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 attack type, every class is now above 0.92 F1. The largest gains are exactly the web attacks that used to be confused with each other, plus Fingerprinting, the rarest class, which benefited from class weighting.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test unseen attacks, we hid each attack type completely from training, one at a time, and then checked whether it was still caught. With the new features, the classifier alone catches 80% on average; with the anomaly check added it is 94%, up from 74% before the new features. The web attacks improved the most, for example Password from 44% to 97%. One honest exception: MITM dropped from 89% to 69%, because its single connection now looks fairly ordinary to the anomaly check.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some of the ten sites are attackers that send poisoned updates. Detection stays at almost 100%, and detection of new attacks stays above 90% up to 40% attackers. On the right: only 10-12% of attacker updates get through at 20-30%, and 36% at 40%. Without our trust check, plain federated averaging broke at 30%. At 50% the attackers are the majority, so the 'typical' update is theirs and the check fails, which is the expected limit of any median-based defence.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the live demo. We replayed a real Backdoor attack into the emulated network. The detector classified it as Backdoor with 99.7% confidence, chose to block, and installed a drop rule on the switch, which we read back from the switch itself to confirm. One honest limitation: right now the decision is made after the whole capture is analysed, not packet by packet.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the project is complete. We met the accuracy target with a strict test, the second check catches attacks never seen before, the training resists sabotage up to 40% bad sites, and detections turn into verified blocking rules. We also found and repaired broken MITM rows in a popular public dataset, and fixed a label leak first reported by Galal. Our searches found no published system that combines all five parts, though that is based on targeted searches, not a full systematic review.</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steps: prune the model to cut communication further, make blocking happen while an attack is still in progress, test smarter attackers, and validate on a second dataset.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paper is in preparation. All the experiments are complete, so we are now writing it up for submission.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We're happy to take questions.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Earlier we only had a one-process simulation of 20 sites. We now ran the real thing: one server and 20 separate client programs, on a virtual machine with enough memory. We repeated it with three different random seeds for both 10 and 20 sites. Attack detection stays very high; one 20-site run at seed 42 is lower at 0.978, and we have not yet found out why. Only three seeds, so we do not claim confidence intervals.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one complete run on 10 sites with the data features already prepared. The shared model takes a few minutes to train. Afterwards the live part, replaying the attack, classifying it and installing the drop rule, takes seconds.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follow-ups. First, weight pruning, which was one of our objectives: pruned while the shared model trains, 70 percent of the weights can go and the backstop barely changes; pruned afterwards it collapses. Second, a smarter attacker that knows how our filter works: it gets through most of the time, which is a real weakness, although the first-stage classifier still catches known attacks. Third, we repeated the big experiments with two more seeds and the conclusions held. Limits: single seed for pruning and the smart attacker, and we did not test new-attack detection against the smart attacker.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run you asked about: the whole federated system on the whole dataset, six real runs with 10 and 20 sites, three seeds. We also made the test stricter: all packets of one conversation stay together, so a test packet never has a twin in the practice data. Known attacks are caught as before, so nothing was inflated. False alarms depend on how you count: per packet some runs flag up to 16 percent of normal packets, but that is a handful of very long normal conversations being flagged as a block; per conversation it is under one percent. New-attack detection and the trust filter are somewhat weaker at this scale and we do not yet know why. In the live demo all 14 recorded attacks were blocked; two were labelled as the wrong attack type (the MITM recording as Ransomware, the fingerprinting recording as DDoS). These are the dataset's own recordings, so it is a demonstration, not a held-out test.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B36D053B-DB25-42F1-B33E-51C5461C46A9}" type="datetime1">
              <a:rPr lang="en-IN" smtClean="0"/>
              <a:t>20-02-2025</a:t>
            </a:fld>
            <a:endParaRPr lang="en-IN"/>
          </a:p>
        </p:txBody>
      </p:sp>
      <p:sp>
        <p:nvSpPr>
          <p:cNvPr id="5" name="Footer Placeholder 4"/>
          <p:cNvSpPr>
            <a:spLocks noGrp="1"/>
          </p:cNvSpPr>
          <p:nvPr>
            <p:ph type="ftr" sz="quarter" idx="11"/>
          </p:nvPr>
        </p:nvSpPr>
        <p:spPr/>
        <p:txBody>
          <a:bodyPr/>
          <a:lstStyle/>
          <a:p>
            <a:r>
              <a:rPr lang="en-IN"/>
              <a:t>Title of the Project                         Department of CSE, BSMCE </a:t>
            </a:r>
          </a:p>
        </p:txBody>
      </p:sp>
      <p:sp>
        <p:nvSpPr>
          <p:cNvPr id="6" name="Slide Number Placeholder 5"/>
          <p:cNvSpPr>
            <a:spLocks noGrp="1"/>
          </p:cNvSpPr>
          <p:nvPr>
            <p:ph type="sldNum" sz="quarter" idx="12"/>
          </p:nvPr>
        </p:nvSpPr>
        <p:spPr/>
        <p:txBody>
          <a:bodyPr/>
          <a:lstStyle/>
          <a:p>
            <a:fld id="{840E0BF8-4B7D-46FA-B28A-DDF089F57DAF}" type="slidenum">
              <a:rPr lang="en-IN" smtClean="0"/>
              <a:t>‹#›</a:t>
            </a:fld>
            <a:endParaRPr lang="en-IN"/>
          </a:p>
        </p:txBody>
      </p:sp>
    </p:spTree>
    <p:extLst>
      <p:ext uri="{BB962C8B-B14F-4D97-AF65-F5344CB8AC3E}">
        <p14:creationId xmlns:p14="http://schemas.microsoft.com/office/powerpoint/2010/main" val="22705038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4396D68-3A98-4768-BEB1-0E39A68F7DAF}" type="datetime1">
              <a:rPr lang="en-IN" smtClean="0"/>
              <a:t>20-02-2025</a:t>
            </a:fld>
            <a:endParaRPr lang="en-IN"/>
          </a:p>
        </p:txBody>
      </p:sp>
      <p:sp>
        <p:nvSpPr>
          <p:cNvPr id="5" name="Footer Placeholder 4"/>
          <p:cNvSpPr>
            <a:spLocks noGrp="1"/>
          </p:cNvSpPr>
          <p:nvPr>
            <p:ph type="ftr" sz="quarter" idx="11"/>
          </p:nvPr>
        </p:nvSpPr>
        <p:spPr/>
        <p:txBody>
          <a:bodyPr/>
          <a:lstStyle/>
          <a:p>
            <a:r>
              <a:rPr lang="en-IN"/>
              <a:t>Title of the Project                         Department of CSE, BSMCE </a:t>
            </a:r>
          </a:p>
        </p:txBody>
      </p:sp>
      <p:sp>
        <p:nvSpPr>
          <p:cNvPr id="6" name="Slide Number Placeholder 5"/>
          <p:cNvSpPr>
            <a:spLocks noGrp="1"/>
          </p:cNvSpPr>
          <p:nvPr>
            <p:ph type="sldNum" sz="quarter" idx="12"/>
          </p:nvPr>
        </p:nvSpPr>
        <p:spPr/>
        <p:txBody>
          <a:bodyPr/>
          <a:lstStyle/>
          <a:p>
            <a:fld id="{840E0BF8-4B7D-46FA-B28A-DDF089F57DAF}" type="slidenum">
              <a:rPr lang="en-IN" smtClean="0"/>
              <a:t>‹#›</a:t>
            </a:fld>
            <a:endParaRPr lang="en-IN"/>
          </a:p>
        </p:txBody>
      </p:sp>
    </p:spTree>
    <p:extLst>
      <p:ext uri="{BB962C8B-B14F-4D97-AF65-F5344CB8AC3E}">
        <p14:creationId xmlns:p14="http://schemas.microsoft.com/office/powerpoint/2010/main" val="32410690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319B8D-7C8B-4C09-8C81-B7618A26281B}" type="datetime1">
              <a:rPr lang="en-IN" smtClean="0"/>
              <a:t>20-02-2025</a:t>
            </a:fld>
            <a:endParaRPr lang="en-IN"/>
          </a:p>
        </p:txBody>
      </p:sp>
      <p:sp>
        <p:nvSpPr>
          <p:cNvPr id="5" name="Footer Placeholder 4"/>
          <p:cNvSpPr>
            <a:spLocks noGrp="1"/>
          </p:cNvSpPr>
          <p:nvPr>
            <p:ph type="ftr" sz="quarter" idx="11"/>
          </p:nvPr>
        </p:nvSpPr>
        <p:spPr/>
        <p:txBody>
          <a:bodyPr/>
          <a:lstStyle/>
          <a:p>
            <a:r>
              <a:rPr lang="en-IN"/>
              <a:t>Title of the Project                         Department of CSE, BSMCE </a:t>
            </a:r>
          </a:p>
        </p:txBody>
      </p:sp>
      <p:sp>
        <p:nvSpPr>
          <p:cNvPr id="6" name="Slide Number Placeholder 5"/>
          <p:cNvSpPr>
            <a:spLocks noGrp="1"/>
          </p:cNvSpPr>
          <p:nvPr>
            <p:ph type="sldNum" sz="quarter" idx="12"/>
          </p:nvPr>
        </p:nvSpPr>
        <p:spPr/>
        <p:txBody>
          <a:bodyPr/>
          <a:lstStyle/>
          <a:p>
            <a:fld id="{840E0BF8-4B7D-46FA-B28A-DDF089F57DAF}" type="slidenum">
              <a:rPr lang="en-IN" smtClean="0"/>
              <a:t>‹#›</a:t>
            </a:fld>
            <a:endParaRPr lang="en-IN"/>
          </a:p>
        </p:txBody>
      </p:sp>
    </p:spTree>
    <p:extLst>
      <p:ext uri="{BB962C8B-B14F-4D97-AF65-F5344CB8AC3E}">
        <p14:creationId xmlns:p14="http://schemas.microsoft.com/office/powerpoint/2010/main" val="38632343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F6021243-2A31-40D0-82A9-4633E98CD668}" type="datetime1">
              <a:rPr lang="en-IN" smtClean="0"/>
              <a:t>20-02-2025</a:t>
            </a:fld>
            <a:endParaRPr lang="en-IN"/>
          </a:p>
        </p:txBody>
      </p:sp>
      <p:sp>
        <p:nvSpPr>
          <p:cNvPr id="6" name="Footer Placeholder 5"/>
          <p:cNvSpPr>
            <a:spLocks noGrp="1"/>
          </p:cNvSpPr>
          <p:nvPr>
            <p:ph type="ftr" sz="quarter" idx="11"/>
          </p:nvPr>
        </p:nvSpPr>
        <p:spPr/>
        <p:txBody>
          <a:bodyPr/>
          <a:lstStyle/>
          <a:p>
            <a:r>
              <a:rPr lang="en-IN"/>
              <a:t>Title of the Project                         Department of CSE, BSMCE </a:t>
            </a:r>
          </a:p>
        </p:txBody>
      </p:sp>
      <p:sp>
        <p:nvSpPr>
          <p:cNvPr id="7" name="Slide Number Placeholder 6"/>
          <p:cNvSpPr>
            <a:spLocks noGrp="1"/>
          </p:cNvSpPr>
          <p:nvPr>
            <p:ph type="sldNum" sz="quarter" idx="12"/>
          </p:nvPr>
        </p:nvSpPr>
        <p:spPr/>
        <p:txBody>
          <a:bodyPr/>
          <a:lstStyle/>
          <a:p>
            <a:fld id="{840E0BF8-4B7D-46FA-B28A-DDF089F57DAF}" type="slidenum">
              <a:rPr lang="en-IN" smtClean="0"/>
              <a:t>‹#›</a:t>
            </a:fld>
            <a:endParaRPr lang="en-IN"/>
          </a:p>
        </p:txBody>
      </p:sp>
    </p:spTree>
    <p:extLst>
      <p:ext uri="{BB962C8B-B14F-4D97-AF65-F5344CB8AC3E}">
        <p14:creationId xmlns:p14="http://schemas.microsoft.com/office/powerpoint/2010/main" val="24378774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61B2D8B6-BEBE-496B-96D0-368D09DCCB20}" type="datetime1">
              <a:rPr lang="en-IN" smtClean="0"/>
              <a:t>20-02-2025</a:t>
            </a:fld>
            <a:endParaRPr lang="en-IN"/>
          </a:p>
        </p:txBody>
      </p:sp>
      <p:sp>
        <p:nvSpPr>
          <p:cNvPr id="8" name="Footer Placeholder 7"/>
          <p:cNvSpPr>
            <a:spLocks noGrp="1"/>
          </p:cNvSpPr>
          <p:nvPr>
            <p:ph type="ftr" sz="quarter" idx="11"/>
          </p:nvPr>
        </p:nvSpPr>
        <p:spPr/>
        <p:txBody>
          <a:bodyPr/>
          <a:lstStyle/>
          <a:p>
            <a:r>
              <a:rPr lang="en-IN"/>
              <a:t>Title of the Project                         Department of CSE, BSMCE </a:t>
            </a:r>
          </a:p>
        </p:txBody>
      </p:sp>
      <p:sp>
        <p:nvSpPr>
          <p:cNvPr id="9" name="Slide Number Placeholder 8"/>
          <p:cNvSpPr>
            <a:spLocks noGrp="1"/>
          </p:cNvSpPr>
          <p:nvPr>
            <p:ph type="sldNum" sz="quarter" idx="12"/>
          </p:nvPr>
        </p:nvSpPr>
        <p:spPr/>
        <p:txBody>
          <a:bodyPr/>
          <a:lstStyle/>
          <a:p>
            <a:fld id="{840E0BF8-4B7D-46FA-B28A-DDF089F57DAF}" type="slidenum">
              <a:rPr lang="en-IN" smtClean="0"/>
              <a:t>‹#›</a:t>
            </a:fld>
            <a:endParaRPr lang="en-IN"/>
          </a:p>
        </p:txBody>
      </p:sp>
    </p:spTree>
    <p:extLst>
      <p:ext uri="{BB962C8B-B14F-4D97-AF65-F5344CB8AC3E}">
        <p14:creationId xmlns:p14="http://schemas.microsoft.com/office/powerpoint/2010/main" val="24383628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A1F2FCAC-BA60-4A9D-8B57-B43241027BFA}" type="datetime1">
              <a:rPr lang="en-IN" smtClean="0"/>
              <a:t>20-02-2025</a:t>
            </a:fld>
            <a:endParaRPr lang="en-IN"/>
          </a:p>
        </p:txBody>
      </p:sp>
      <p:sp>
        <p:nvSpPr>
          <p:cNvPr id="4" name="Footer Placeholder 3"/>
          <p:cNvSpPr>
            <a:spLocks noGrp="1"/>
          </p:cNvSpPr>
          <p:nvPr>
            <p:ph type="ftr" sz="quarter" idx="11"/>
          </p:nvPr>
        </p:nvSpPr>
        <p:spPr/>
        <p:txBody>
          <a:bodyPr/>
          <a:lstStyle/>
          <a:p>
            <a:r>
              <a:rPr lang="en-IN"/>
              <a:t>Title of the Project                         Department of CSE, BSMCE </a:t>
            </a:r>
          </a:p>
        </p:txBody>
      </p:sp>
      <p:sp>
        <p:nvSpPr>
          <p:cNvPr id="5" name="Slide Number Placeholder 4"/>
          <p:cNvSpPr>
            <a:spLocks noGrp="1"/>
          </p:cNvSpPr>
          <p:nvPr>
            <p:ph type="sldNum" sz="quarter" idx="12"/>
          </p:nvPr>
        </p:nvSpPr>
        <p:spPr/>
        <p:txBody>
          <a:bodyPr/>
          <a:lstStyle/>
          <a:p>
            <a:fld id="{840E0BF8-4B7D-46FA-B28A-DDF089F57DAF}" type="slidenum">
              <a:rPr lang="en-IN" smtClean="0"/>
              <a:t>‹#›</a:t>
            </a:fld>
            <a:endParaRPr lang="en-IN"/>
          </a:p>
        </p:txBody>
      </p:sp>
    </p:spTree>
    <p:extLst>
      <p:ext uri="{BB962C8B-B14F-4D97-AF65-F5344CB8AC3E}">
        <p14:creationId xmlns:p14="http://schemas.microsoft.com/office/powerpoint/2010/main" val="10699193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82F7E5-E74A-4039-AC79-014909648B60}" type="datetime1">
              <a:rPr lang="en-IN" smtClean="0"/>
              <a:t>20-02-2025</a:t>
            </a:fld>
            <a:endParaRPr lang="en-IN"/>
          </a:p>
        </p:txBody>
      </p:sp>
      <p:sp>
        <p:nvSpPr>
          <p:cNvPr id="3" name="Footer Placeholder 2"/>
          <p:cNvSpPr>
            <a:spLocks noGrp="1"/>
          </p:cNvSpPr>
          <p:nvPr>
            <p:ph type="ftr" sz="quarter" idx="11"/>
          </p:nvPr>
        </p:nvSpPr>
        <p:spPr/>
        <p:txBody>
          <a:bodyPr/>
          <a:lstStyle/>
          <a:p>
            <a:r>
              <a:rPr lang="en-IN"/>
              <a:t>Title of the Project                         Department of CSE, BSMCE </a:t>
            </a:r>
          </a:p>
        </p:txBody>
      </p:sp>
      <p:sp>
        <p:nvSpPr>
          <p:cNvPr id="4" name="Slide Number Placeholder 3"/>
          <p:cNvSpPr>
            <a:spLocks noGrp="1"/>
          </p:cNvSpPr>
          <p:nvPr>
            <p:ph type="sldNum" sz="quarter" idx="12"/>
          </p:nvPr>
        </p:nvSpPr>
        <p:spPr/>
        <p:txBody>
          <a:bodyPr/>
          <a:lstStyle/>
          <a:p>
            <a:fld id="{840E0BF8-4B7D-46FA-B28A-DDF089F57DAF}" type="slidenum">
              <a:rPr lang="en-IN" smtClean="0"/>
              <a:t>‹#›</a:t>
            </a:fld>
            <a:endParaRPr lang="en-IN"/>
          </a:p>
        </p:txBody>
      </p:sp>
    </p:spTree>
    <p:extLst>
      <p:ext uri="{BB962C8B-B14F-4D97-AF65-F5344CB8AC3E}">
        <p14:creationId xmlns:p14="http://schemas.microsoft.com/office/powerpoint/2010/main" val="7406731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F23D454-FC22-4AEF-8FE5-CDB95241981A}" type="datetime1">
              <a:rPr lang="en-IN" smtClean="0"/>
              <a:t>20-02-2025</a:t>
            </a:fld>
            <a:endParaRPr lang="en-IN"/>
          </a:p>
        </p:txBody>
      </p:sp>
      <p:sp>
        <p:nvSpPr>
          <p:cNvPr id="6" name="Footer Placeholder 5"/>
          <p:cNvSpPr>
            <a:spLocks noGrp="1"/>
          </p:cNvSpPr>
          <p:nvPr>
            <p:ph type="ftr" sz="quarter" idx="11"/>
          </p:nvPr>
        </p:nvSpPr>
        <p:spPr/>
        <p:txBody>
          <a:bodyPr/>
          <a:lstStyle/>
          <a:p>
            <a:r>
              <a:rPr lang="en-IN"/>
              <a:t>Title of the Project                         Department of CSE, BSMCE </a:t>
            </a:r>
          </a:p>
        </p:txBody>
      </p:sp>
      <p:sp>
        <p:nvSpPr>
          <p:cNvPr id="7" name="Slide Number Placeholder 6"/>
          <p:cNvSpPr>
            <a:spLocks noGrp="1"/>
          </p:cNvSpPr>
          <p:nvPr>
            <p:ph type="sldNum" sz="quarter" idx="12"/>
          </p:nvPr>
        </p:nvSpPr>
        <p:spPr/>
        <p:txBody>
          <a:bodyPr/>
          <a:lstStyle/>
          <a:p>
            <a:fld id="{840E0BF8-4B7D-46FA-B28A-DDF089F57DAF}" type="slidenum">
              <a:rPr lang="en-IN" smtClean="0"/>
              <a:t>‹#›</a:t>
            </a:fld>
            <a:endParaRPr lang="en-IN"/>
          </a:p>
        </p:txBody>
      </p:sp>
    </p:spTree>
    <p:extLst>
      <p:ext uri="{BB962C8B-B14F-4D97-AF65-F5344CB8AC3E}">
        <p14:creationId xmlns:p14="http://schemas.microsoft.com/office/powerpoint/2010/main" val="29557498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D8514F6-6C18-4B7B-8FAD-C5CC9F79863A}" type="datetime1">
              <a:rPr lang="en-IN" smtClean="0"/>
              <a:t>20-02-2025</a:t>
            </a:fld>
            <a:endParaRPr lang="en-IN"/>
          </a:p>
        </p:txBody>
      </p:sp>
      <p:sp>
        <p:nvSpPr>
          <p:cNvPr id="6" name="Footer Placeholder 5"/>
          <p:cNvSpPr>
            <a:spLocks noGrp="1"/>
          </p:cNvSpPr>
          <p:nvPr>
            <p:ph type="ftr" sz="quarter" idx="11"/>
          </p:nvPr>
        </p:nvSpPr>
        <p:spPr/>
        <p:txBody>
          <a:bodyPr/>
          <a:lstStyle/>
          <a:p>
            <a:r>
              <a:rPr lang="en-IN"/>
              <a:t>Title of the Project                         Department of CSE, BSMCE </a:t>
            </a:r>
          </a:p>
        </p:txBody>
      </p:sp>
      <p:sp>
        <p:nvSpPr>
          <p:cNvPr id="7" name="Slide Number Placeholder 6"/>
          <p:cNvSpPr>
            <a:spLocks noGrp="1"/>
          </p:cNvSpPr>
          <p:nvPr>
            <p:ph type="sldNum" sz="quarter" idx="12"/>
          </p:nvPr>
        </p:nvSpPr>
        <p:spPr/>
        <p:txBody>
          <a:bodyPr/>
          <a:lstStyle/>
          <a:p>
            <a:fld id="{840E0BF8-4B7D-46FA-B28A-DDF089F57DAF}" type="slidenum">
              <a:rPr lang="en-IN" smtClean="0"/>
              <a:t>‹#›</a:t>
            </a:fld>
            <a:endParaRPr lang="en-IN"/>
          </a:p>
        </p:txBody>
      </p:sp>
    </p:spTree>
    <p:extLst>
      <p:ext uri="{BB962C8B-B14F-4D97-AF65-F5344CB8AC3E}">
        <p14:creationId xmlns:p14="http://schemas.microsoft.com/office/powerpoint/2010/main" val="30083314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60A17D8-EAAF-4E31-8D25-AF62D001CE1A}" type="datetime1">
              <a:rPr lang="en-IN" smtClean="0"/>
              <a:t>20-02-2025</a:t>
            </a:fld>
            <a:endParaRPr lang="en-IN"/>
          </a:p>
        </p:txBody>
      </p:sp>
      <p:sp>
        <p:nvSpPr>
          <p:cNvPr id="5" name="Footer Placeholder 4"/>
          <p:cNvSpPr>
            <a:spLocks noGrp="1"/>
          </p:cNvSpPr>
          <p:nvPr>
            <p:ph type="ftr" sz="quarter" idx="11"/>
          </p:nvPr>
        </p:nvSpPr>
        <p:spPr/>
        <p:txBody>
          <a:bodyPr/>
          <a:lstStyle/>
          <a:p>
            <a:r>
              <a:rPr lang="en-IN"/>
              <a:t>Title of the Project                         Department of CSE, BSMCE </a:t>
            </a:r>
          </a:p>
        </p:txBody>
      </p:sp>
      <p:sp>
        <p:nvSpPr>
          <p:cNvPr id="6" name="Slide Number Placeholder 5"/>
          <p:cNvSpPr>
            <a:spLocks noGrp="1"/>
          </p:cNvSpPr>
          <p:nvPr>
            <p:ph type="sldNum" sz="quarter" idx="12"/>
          </p:nvPr>
        </p:nvSpPr>
        <p:spPr/>
        <p:txBody>
          <a:bodyPr/>
          <a:lstStyle/>
          <a:p>
            <a:fld id="{840E0BF8-4B7D-46FA-B28A-DDF089F57DAF}" type="slidenum">
              <a:rPr lang="en-IN" smtClean="0"/>
              <a:t>‹#›</a:t>
            </a:fld>
            <a:endParaRPr lang="en-IN"/>
          </a:p>
        </p:txBody>
      </p:sp>
    </p:spTree>
    <p:extLst>
      <p:ext uri="{BB962C8B-B14F-4D97-AF65-F5344CB8AC3E}">
        <p14:creationId xmlns:p14="http://schemas.microsoft.com/office/powerpoint/2010/main" val="35311083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D91BE0C-91C3-4274-B780-21302860085B}" type="datetime1">
              <a:rPr lang="en-IN" smtClean="0"/>
              <a:t>20-02-2025</a:t>
            </a:fld>
            <a:endParaRPr lang="en-IN"/>
          </a:p>
        </p:txBody>
      </p:sp>
      <p:sp>
        <p:nvSpPr>
          <p:cNvPr id="5" name="Footer Placeholder 4"/>
          <p:cNvSpPr>
            <a:spLocks noGrp="1"/>
          </p:cNvSpPr>
          <p:nvPr>
            <p:ph type="ftr" sz="quarter" idx="11"/>
          </p:nvPr>
        </p:nvSpPr>
        <p:spPr/>
        <p:txBody>
          <a:bodyPr/>
          <a:lstStyle/>
          <a:p>
            <a:r>
              <a:rPr lang="en-IN"/>
              <a:t>Title of the Project                         Department of CSE, BSMCE </a:t>
            </a:r>
          </a:p>
        </p:txBody>
      </p:sp>
      <p:sp>
        <p:nvSpPr>
          <p:cNvPr id="6" name="Slide Number Placeholder 5"/>
          <p:cNvSpPr>
            <a:spLocks noGrp="1"/>
          </p:cNvSpPr>
          <p:nvPr>
            <p:ph type="sldNum" sz="quarter" idx="12"/>
          </p:nvPr>
        </p:nvSpPr>
        <p:spPr/>
        <p:txBody>
          <a:bodyPr/>
          <a:lstStyle/>
          <a:p>
            <a:fld id="{840E0BF8-4B7D-46FA-B28A-DDF089F57DAF}" type="slidenum">
              <a:rPr lang="en-IN" smtClean="0"/>
              <a:t>‹#›</a:t>
            </a:fld>
            <a:endParaRPr lang="en-IN"/>
          </a:p>
        </p:txBody>
      </p:sp>
    </p:spTree>
    <p:extLst>
      <p:ext uri="{BB962C8B-B14F-4D97-AF65-F5344CB8AC3E}">
        <p14:creationId xmlns:p14="http://schemas.microsoft.com/office/powerpoint/2010/main" val="198846462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764F45-E5F6-4A15-9110-C8AC5BB2A39E}" type="datetime1">
              <a:rPr lang="en-IN" smtClean="0"/>
              <a:t>20-02-2025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Title of the Project                         Department of CSE, BSMCE </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0E0BF8-4B7D-46FA-B28A-DDF089F57DAF}" type="slidenum">
              <a:rPr lang="en-IN" smtClean="0"/>
              <a:t>‹#›</a:t>
            </a:fld>
            <a:endParaRPr lang="en-IN"/>
          </a:p>
        </p:txBody>
      </p:sp>
    </p:spTree>
    <p:extLst>
      <p:ext uri="{BB962C8B-B14F-4D97-AF65-F5344CB8AC3E}">
        <p14:creationId xmlns:p14="http://schemas.microsoft.com/office/powerpoint/2010/main" val="30425719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image" Target="../media/image3.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image" Target="../media/image4.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image" Target="../media/image5.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image" Target="../media/image6.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image" Target="../media/image7.png"/><Relationship Id="rId4" Type="http://schemas.openxmlformats.org/officeDocument/2006/relationships/notesSlide" Target="../notesSlides/notesSlide2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image" Target="../media/image8.png"/><Relationship Id="rId4" Type="http://schemas.openxmlformats.org/officeDocument/2006/relationships/notesSlide" Target="../notesSlides/notesSlide2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image" Target="../media/image9.png"/><Relationship Id="rId4" Type="http://schemas.openxmlformats.org/officeDocument/2006/relationships/notesSlide" Target="../notesSlides/notesSlide2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image" Target="../media/image10.png"/><Relationship Id="rId4"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00000" y="700000"/>
            <a:ext cx="9700000" cy="1900000"/>
          </a:xfrm>
        </p:spPr>
        <p:txBody>
          <a:bodyPr>
            <a:noAutofit/>
          </a:bodyPr>
          <a:lstStyle/>
          <a:p>
            <a:pPr lvl="0"/>
            <a:r>
              <a:rPr sz="3800"/>
              <a:t>FL-IDS: Federated Learning-Based Intrusion Detection System for IoT/IIoT</a:t>
            </a:r>
            <a:endParaRPr lang="en-IN" sz="2400" dirty="0"/>
          </a:p>
        </p:txBody>
      </p:sp>
      <p:sp>
        <p:nvSpPr>
          <p:cNvPr id="3" name="Subtitle 2"/>
          <p:cNvSpPr>
            <a:spLocks noGrp="1"/>
          </p:cNvSpPr>
          <p:nvPr>
            <p:ph type="subTitle" idx="1"/>
          </p:nvPr>
        </p:nvSpPr>
        <p:spPr>
          <a:xfrm>
            <a:off x="1524000" y="3500000"/>
            <a:ext cx="9144000" cy="1655762"/>
          </a:xfrm>
        </p:spPr>
        <p:txBody>
          <a:bodyPr>
            <a:normAutofit fontScale="92500" lnSpcReduction="20000"/>
          </a:bodyPr>
          <a:lstStyle/>
          <a:p>
            <a:pPr lvl="0"/>
            <a:endParaRPr lang="en-IN" sz="2000" dirty="0">
              <a:solidFill>
                <a:prstClr val="black"/>
              </a:solidFill>
            </a:endParaRPr>
          </a:p>
          <a:p>
            <a:pPr lvl="0"/>
            <a:r>
              <a:rPr lang="en-IN" sz="2000" dirty="0">
                <a:solidFill>
                  <a:prstClr val="black"/>
                </a:solidFill>
              </a:rPr>
              <a:t>Mr. Syed Akram</a:t>
            </a:r>
          </a:p>
          <a:p>
            <a:pPr lvl="0"/>
            <a:r>
              <a:rPr lang="en-IN" sz="2000" dirty="0">
                <a:solidFill>
                  <a:prstClr val="black"/>
                </a:solidFill>
              </a:rPr>
              <a:t>Assistant Professor</a:t>
            </a:r>
          </a:p>
          <a:p>
            <a:pPr lvl="0"/>
            <a:r>
              <a:rPr lang="en-IN" sz="2000" dirty="0">
                <a:solidFill>
                  <a:prstClr val="black"/>
                </a:solidFill>
              </a:rPr>
              <a:t>Department of Computer Science and Engineering</a:t>
            </a:r>
          </a:p>
          <a:p>
            <a:pPr lvl="0"/>
            <a:r>
              <a:rPr lang="en-US" sz="2000" dirty="0">
                <a:solidFill>
                  <a:prstClr val="black"/>
                </a:solidFill>
              </a:rPr>
              <a:t>B.M.S. College of Engineering</a:t>
            </a:r>
          </a:p>
          <a:p>
            <a:endParaRPr lang="en-IN" dirty="0"/>
          </a:p>
        </p:txBody>
      </p:sp>
      <p:sp>
        <p:nvSpPr>
          <p:cNvPr id="4" name="Footer Placeholder 3"/>
          <p:cNvSpPr>
            <a:spLocks noGrp="1"/>
          </p:cNvSpPr>
          <p:nvPr>
            <p:ph type="ftr" sz="quarter" idx="11"/>
          </p:nvPr>
        </p:nvSpPr>
        <p:spPr/>
        <p:txBody>
          <a:bodyPr/>
          <a:lstStyle/>
          <a:p>
            <a:r>
              <a:rPr lang="en-IN"/>
              <a:t>FL-IDS                         Department of CSE, BMSCE</a:t>
            </a:r>
          </a:p>
        </p:txBody>
      </p:sp>
      <p:sp>
        <p:nvSpPr>
          <p:cNvPr id="5" name="Slide Number Placeholder 4"/>
          <p:cNvSpPr>
            <a:spLocks noGrp="1"/>
          </p:cNvSpPr>
          <p:nvPr>
            <p:ph type="sldNum" sz="quarter" idx="12"/>
          </p:nvPr>
        </p:nvSpPr>
        <p:spPr/>
        <p:txBody>
          <a:bodyPr/>
          <a:lstStyle/>
          <a:p>
            <a:fld id="{840E0BF8-4B7D-46FA-B28A-DDF089F57DAF}" type="slidenum">
              <a:rPr lang="en-IN" smtClean="0"/>
              <a:t>1</a:t>
            </a:fld>
            <a:endParaRPr lang="en-IN"/>
          </a:p>
        </p:txBody>
      </p:sp>
      <p:pic>
        <p:nvPicPr>
          <p:cNvPr id="7"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902863" y="0"/>
            <a:ext cx="1163638"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Date Placeholder 7"/>
          <p:cNvSpPr>
            <a:spLocks noGrp="1"/>
          </p:cNvSpPr>
          <p:nvPr>
            <p:ph type="dt" sz="half" idx="10"/>
          </p:nvPr>
        </p:nvSpPr>
        <p:spPr/>
        <p:txBody>
          <a:bodyPr/>
          <a:lstStyle/>
          <a:p>
            <a:r>
              <a:rPr lang="en-IN"/>
              <a:t>16-10-2026</a:t>
            </a:r>
          </a:p>
        </p:txBody>
      </p:sp>
      <p:sp>
        <p:nvSpPr>
          <p:cNvPr id="9" name="TextBox 8"/>
          <p:cNvSpPr txBox="1"/>
          <p:nvPr/>
        </p:nvSpPr>
        <p:spPr>
          <a:xfrm>
            <a:off x="1096000" y="2750000"/>
            <a:ext cx="2500000" cy="650000"/>
          </a:xfrm>
          <a:prstGeom prst="rect">
            <a:avLst/>
          </a:prstGeom>
          <a:noFill/>
        </p:spPr>
        <p:txBody>
          <a:bodyPr wrap="square" anchor="t" lIns="0" rIns="0">
            <a:spAutoFit/>
          </a:bodyPr>
          <a:lstStyle/>
          <a:p>
            <a:pPr algn="ctr"/>
            <a:r>
              <a:rPr sz="1800" b="0">
                <a:solidFill>
                  <a:srgbClr val="1B1B1B"/>
                </a:solidFill>
              </a:rPr>
              <a:t>Aaron B Ajay</a:t>
            </a:r>
          </a:p>
          <a:p>
            <a:pPr algn="ctr"/>
            <a:r>
              <a:rPr sz="1800" b="0">
                <a:solidFill>
                  <a:srgbClr val="1B1B1B"/>
                </a:solidFill>
              </a:rPr>
              <a:t>1BM23CS003</a:t>
            </a:r>
          </a:p>
        </p:txBody>
      </p:sp>
      <p:sp>
        <p:nvSpPr>
          <p:cNvPr id="10" name="TextBox 9"/>
          <p:cNvSpPr txBox="1"/>
          <p:nvPr/>
        </p:nvSpPr>
        <p:spPr>
          <a:xfrm>
            <a:off x="3596000" y="2750000"/>
            <a:ext cx="2500000" cy="650000"/>
          </a:xfrm>
          <a:prstGeom prst="rect">
            <a:avLst/>
          </a:prstGeom>
          <a:noFill/>
        </p:spPr>
        <p:txBody>
          <a:bodyPr wrap="square" anchor="t" lIns="0" rIns="0">
            <a:spAutoFit/>
          </a:bodyPr>
          <a:lstStyle/>
          <a:p>
            <a:pPr algn="ctr"/>
            <a:r>
              <a:rPr sz="1800" b="0">
                <a:solidFill>
                  <a:srgbClr val="1B1B1B"/>
                </a:solidFill>
              </a:rPr>
              <a:t>Aaryan Prakash</a:t>
            </a:r>
          </a:p>
          <a:p>
            <a:pPr algn="ctr"/>
            <a:r>
              <a:rPr sz="1800" b="0">
                <a:solidFill>
                  <a:srgbClr val="1B1B1B"/>
                </a:solidFill>
              </a:rPr>
              <a:t>1BM23CS006</a:t>
            </a:r>
          </a:p>
        </p:txBody>
      </p:sp>
      <p:sp>
        <p:nvSpPr>
          <p:cNvPr id="11" name="TextBox 10"/>
          <p:cNvSpPr txBox="1"/>
          <p:nvPr/>
        </p:nvSpPr>
        <p:spPr>
          <a:xfrm>
            <a:off x="6096000" y="2750000"/>
            <a:ext cx="2500000" cy="650000"/>
          </a:xfrm>
          <a:prstGeom prst="rect">
            <a:avLst/>
          </a:prstGeom>
          <a:noFill/>
        </p:spPr>
        <p:txBody>
          <a:bodyPr wrap="square" anchor="t" lIns="0" rIns="0">
            <a:spAutoFit/>
          </a:bodyPr>
          <a:lstStyle/>
          <a:p>
            <a:pPr algn="ctr"/>
            <a:r>
              <a:rPr sz="1800" b="0">
                <a:solidFill>
                  <a:srgbClr val="1B1B1B"/>
                </a:solidFill>
              </a:rPr>
              <a:t>Amal Roy</a:t>
            </a:r>
          </a:p>
          <a:p>
            <a:pPr algn="ctr"/>
            <a:r>
              <a:rPr sz="1800" b="0">
                <a:solidFill>
                  <a:srgbClr val="1B1B1B"/>
                </a:solidFill>
              </a:rPr>
              <a:t>1BM23CS025</a:t>
            </a:r>
          </a:p>
        </p:txBody>
      </p:sp>
      <p:sp>
        <p:nvSpPr>
          <p:cNvPr id="12" name="TextBox 11"/>
          <p:cNvSpPr txBox="1"/>
          <p:nvPr/>
        </p:nvSpPr>
        <p:spPr>
          <a:xfrm>
            <a:off x="8596000" y="2750000"/>
            <a:ext cx="2500000" cy="650000"/>
          </a:xfrm>
          <a:prstGeom prst="rect">
            <a:avLst/>
          </a:prstGeom>
          <a:noFill/>
        </p:spPr>
        <p:txBody>
          <a:bodyPr wrap="square" anchor="t" lIns="0" rIns="0">
            <a:spAutoFit/>
          </a:bodyPr>
          <a:lstStyle/>
          <a:p>
            <a:pPr algn="ctr"/>
            <a:r>
              <a:rPr sz="1800" b="0">
                <a:solidFill>
                  <a:srgbClr val="1B1B1B"/>
                </a:solidFill>
              </a:rPr>
              <a:t>Amogh Krishna JS</a:t>
            </a:r>
          </a:p>
          <a:p>
            <a:pPr algn="ctr"/>
            <a:r>
              <a:rPr sz="1800" b="0">
                <a:solidFill>
                  <a:srgbClr val="1B1B1B"/>
                </a:solidFill>
              </a:rPr>
              <a:t>1BM23CS029</a:t>
            </a:r>
          </a:p>
        </p:txBody>
      </p:sp>
    </p:spTree>
    <p:extLst>
      <p:ext uri="{BB962C8B-B14F-4D97-AF65-F5344CB8AC3E}">
        <p14:creationId xmlns:p14="http://schemas.microsoft.com/office/powerpoint/2010/main" val="20682755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endParaRPr lang="en-IN" dirty="0"/>
          </a:p>
        </p:txBody>
      </p:sp>
      <p:sp>
        <p:nvSpPr>
          <p:cNvPr id="3" name="Content Placeholder 2"/>
          <p:cNvSpPr>
            <a:spLocks noGrp="1"/>
          </p:cNvSpPr>
          <p:nvPr>
            <p:ph idx="1"/>
          </p:nvPr>
        </p:nvSpPr>
        <p:spPr/>
        <p:txBody>
          <a:bodyPr>
            <a:normAutofit lnSpcReduction="10000"/>
          </a:bodyPr>
          <a:lstStyle/>
          <a:p>
            <a:pPr marL="457200" indent="-457200">
              <a:buAutoNum type="arabicPeriod"/>
            </a:pPr>
            <a:r>
              <a:rPr lang="en-IN" dirty="0"/>
              <a:t>Problem Statement  </a:t>
            </a:r>
          </a:p>
          <a:p>
            <a:pPr marL="457200" indent="-457200">
              <a:buAutoNum type="arabicPeriod"/>
            </a:pPr>
            <a:r>
              <a:rPr lang="en-IN" dirty="0"/>
              <a:t>High level Design </a:t>
            </a:r>
          </a:p>
          <a:p>
            <a:pPr marL="457200" indent="-457200">
              <a:buAutoNum type="arabicPeriod"/>
            </a:pPr>
            <a:r>
              <a:rPr lang="en-IN" dirty="0"/>
              <a:t>Detailed Design </a:t>
            </a:r>
          </a:p>
          <a:p>
            <a:pPr marL="457200" indent="-457200">
              <a:buAutoNum type="arabicPeriod"/>
            </a:pPr>
            <a:r>
              <a:rPr lang="en-IN" dirty="0"/>
              <a:t>Implementation</a:t>
            </a:r>
          </a:p>
          <a:p>
            <a:pPr marL="457200" indent="-457200">
              <a:buFont typeface="Arial" panose="020B0604020202020204" pitchFamily="34" charset="0"/>
              <a:buAutoNum type="arabicPeriod"/>
            </a:pPr>
            <a:r>
              <a:rPr lang="en-IN" dirty="0"/>
              <a:t>Results (Table, Graphs, ....Datasets Used (If Any)) and Snapshots of the output </a:t>
            </a:r>
          </a:p>
          <a:p>
            <a:pPr marL="457200" indent="-457200">
              <a:buAutoNum type="arabicPeriod"/>
            </a:pPr>
            <a:r>
              <a:rPr lang="en-IN" dirty="0"/>
              <a:t>Conclusion and Future Enhancements </a:t>
            </a:r>
          </a:p>
          <a:p>
            <a:pPr marL="457200" indent="-457200">
              <a:buAutoNum type="arabicPeriod"/>
            </a:pPr>
            <a:r>
              <a:rPr lang="en-IN" dirty="0"/>
              <a:t>Paper published </a:t>
            </a:r>
          </a:p>
          <a:p>
            <a:pPr marL="457200" indent="-457200">
              <a:buAutoNum type="arabicPeriod"/>
            </a:pPr>
            <a:r>
              <a:rPr lang="en-IN" dirty="0"/>
              <a:t>References </a:t>
            </a:r>
          </a:p>
        </p:txBody>
      </p:sp>
      <p:sp>
        <p:nvSpPr>
          <p:cNvPr id="4" name="Footer Placeholder 3"/>
          <p:cNvSpPr>
            <a:spLocks noGrp="1"/>
          </p:cNvSpPr>
          <p:nvPr>
            <p:ph type="ftr" sz="quarter" idx="11"/>
          </p:nvPr>
        </p:nvSpPr>
        <p:spPr/>
        <p:txBody>
          <a:bodyPr/>
          <a:lstStyle/>
          <a:p>
            <a:r>
              <a:rPr lang="en-IN"/>
              <a:t>FL-IDS                         Department of CSE, BMSCE</a:t>
            </a:r>
          </a:p>
        </p:txBody>
      </p:sp>
      <p:sp>
        <p:nvSpPr>
          <p:cNvPr id="5" name="Slide Number Placeholder 4"/>
          <p:cNvSpPr>
            <a:spLocks noGrp="1"/>
          </p:cNvSpPr>
          <p:nvPr>
            <p:ph type="sldNum" sz="quarter" idx="12"/>
          </p:nvPr>
        </p:nvSpPr>
        <p:spPr/>
        <p:txBody>
          <a:bodyPr/>
          <a:lstStyle/>
          <a:p>
            <a:fld id="{840E0BF8-4B7D-46FA-B28A-DDF089F57DAF}" type="slidenum">
              <a:rPr lang="en-IN" smtClean="0"/>
              <a:t>2</a:t>
            </a:fld>
            <a:endParaRPr lang="en-IN"/>
          </a:p>
        </p:txBody>
      </p:sp>
      <p:pic>
        <p:nvPicPr>
          <p:cNvPr id="6"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028362" y="0"/>
            <a:ext cx="1163638"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Date Placeholder 6"/>
          <p:cNvSpPr>
            <a:spLocks noGrp="1"/>
          </p:cNvSpPr>
          <p:nvPr>
            <p:ph type="dt" sz="half" idx="10"/>
          </p:nvPr>
        </p:nvSpPr>
        <p:spPr/>
        <p:txBody>
          <a:bodyPr/>
          <a:lstStyle/>
          <a:p>
            <a:r>
              <a:rPr lang="en-IN"/>
              <a:t>16-10-2026</a:t>
            </a:r>
          </a:p>
        </p:txBody>
      </p:sp>
    </p:spTree>
    <p:extLst>
      <p:ext uri="{BB962C8B-B14F-4D97-AF65-F5344CB8AC3E}">
        <p14:creationId xmlns:p14="http://schemas.microsoft.com/office/powerpoint/2010/main" val="2227209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z="3600"/>
              <a:t>Sustainable Development Goals (SDGs) Addressed</a:t>
            </a:r>
            <a:endParaRPr lang="en-IN" dirty="0"/>
          </a:p>
        </p:txBody>
      </p:sp>
      <p:sp>
        <p:nvSpPr>
          <p:cNvPr id="4" name="Date Placeholder 3"/>
          <p:cNvSpPr>
            <a:spLocks noGrp="1"/>
          </p:cNvSpPr>
          <p:nvPr>
            <p:ph type="dt" sz="half" idx="10"/>
          </p:nvPr>
        </p:nvSpPr>
        <p:spPr/>
        <p:txBody>
          <a:bodyPr/>
          <a:lstStyle/>
          <a:p>
            <a:r>
              <a:rPr lang="en-IN"/>
              <a:t>16-10-2026</a:t>
            </a:r>
          </a:p>
        </p:txBody>
      </p:sp>
      <p:sp>
        <p:nvSpPr>
          <p:cNvPr id="5" name="Footer Placeholder 4"/>
          <p:cNvSpPr>
            <a:spLocks noGrp="1"/>
          </p:cNvSpPr>
          <p:nvPr>
            <p:ph type="ftr" sz="quarter" idx="11"/>
          </p:nvPr>
        </p:nvSpPr>
        <p:spPr/>
        <p:txBody>
          <a:bodyPr/>
          <a:lstStyle/>
          <a:p>
            <a:r>
              <a:rPr lang="en-IN"/>
              <a:t>FL-IDS                         Department of CSE, BMSCE</a:t>
            </a:r>
          </a:p>
        </p:txBody>
      </p:sp>
      <p:sp>
        <p:nvSpPr>
          <p:cNvPr id="6" name="Slide Number Placeholder 5"/>
          <p:cNvSpPr>
            <a:spLocks noGrp="1"/>
          </p:cNvSpPr>
          <p:nvPr>
            <p:ph type="sldNum" sz="quarter" idx="12"/>
          </p:nvPr>
        </p:nvSpPr>
        <p:spPr/>
        <p:txBody>
          <a:bodyPr/>
          <a:lstStyle/>
          <a:p>
            <a:fld id="{840E0BF8-4B7D-46FA-B28A-DDF089F57DAF}" type="slidenum">
              <a:rPr lang="en-IN" smtClean="0"/>
              <a:t>4</a:t>
            </a:fld>
            <a:endParaRPr lang="en-IN"/>
          </a:p>
        </p:txBody>
      </p:sp>
      <p:pic>
        <p:nvPicPr>
          <p:cNvPr id="7" name="Picture 1">
            <a:extLst>
              <a:ext uri="{FF2B5EF4-FFF2-40B4-BE49-F238E27FC236}">
                <a16:creationId xmlns:a16="http://schemas.microsoft.com/office/drawing/2014/main" id="{4C58C064-5A26-4ED8-8F7B-4132538C509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028362" y="0"/>
            <a:ext cx="1163638"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ounded Rectangle 7"/>
          <p:cNvSpPr/>
          <p:nvPr/>
        </p:nvSpPr>
        <p:spPr>
          <a:xfrm>
            <a:off x="838200" y="1740688"/>
            <a:ext cx="3338533" cy="3250000"/>
          </a:xfrm>
          <a:prstGeom prst="roundRect">
            <a:avLst>
              <a:gd name="adj" fmla="val 6000"/>
            </a:avLst>
          </a:prstGeom>
          <a:solidFill>
            <a:srgbClr val="E3E7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50000" rIns="150000" tIns="120000"/>
          <a:lstStyle/>
          <a:p>
            <a:pPr algn="l"/>
            <a:r>
              <a:rPr sz="1800" b="1">
                <a:solidFill>
                  <a:srgbClr val="1E2761"/>
                </a:solidFill>
              </a:rPr>
              <a:t>SDG 9: Industry, Innovation and Infrastructure</a:t>
            </a:r>
          </a:p>
          <a:p>
            <a:pPr algn="l">
              <a:spcBef>
                <a:spcPts val="500"/>
              </a:spcBef>
            </a:pPr>
            <a:r>
              <a:rPr sz="1700" b="0">
                <a:solidFill>
                  <a:srgbClr val="1B1B1B"/>
                </a:solidFill>
              </a:rPr>
              <a:t>• Enhances secure network infrastructure</a:t>
            </a:r>
          </a:p>
          <a:p>
            <a:pPr algn="l">
              <a:spcBef>
                <a:spcPts val="500"/>
              </a:spcBef>
            </a:pPr>
            <a:r>
              <a:rPr sz="1700" b="0">
                <a:solidFill>
                  <a:srgbClr val="1B1B1B"/>
                </a:solidFill>
              </a:rPr>
              <a:t>• Supports smart systems</a:t>
            </a:r>
          </a:p>
        </p:txBody>
      </p:sp>
      <p:sp>
        <p:nvSpPr>
          <p:cNvPr id="9" name="Rounded Rectangle 8"/>
          <p:cNvSpPr/>
          <p:nvPr/>
        </p:nvSpPr>
        <p:spPr>
          <a:xfrm>
            <a:off x="4426733" y="1740688"/>
            <a:ext cx="3338533" cy="3250000"/>
          </a:xfrm>
          <a:prstGeom prst="roundRect">
            <a:avLst>
              <a:gd name="adj" fmla="val 6000"/>
            </a:avLst>
          </a:prstGeom>
          <a:solidFill>
            <a:srgbClr val="DDF1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50000" rIns="150000" tIns="120000"/>
          <a:lstStyle/>
          <a:p>
            <a:pPr algn="l"/>
            <a:r>
              <a:rPr sz="1800" b="1">
                <a:solidFill>
                  <a:srgbClr val="0A9396"/>
                </a:solidFill>
              </a:rPr>
              <a:t>SDG 11: Sustainable Cities and Communities</a:t>
            </a:r>
          </a:p>
          <a:p>
            <a:pPr algn="l">
              <a:spcBef>
                <a:spcPts val="500"/>
              </a:spcBef>
            </a:pPr>
            <a:r>
              <a:rPr sz="1700" b="0">
                <a:solidFill>
                  <a:srgbClr val="1B1B1B"/>
                </a:solidFill>
              </a:rPr>
              <a:t>• Secure IoT systems for smart cities, including traffic systems, healthcare and energy grids</a:t>
            </a:r>
          </a:p>
          <a:p>
            <a:pPr algn="l">
              <a:spcBef>
                <a:spcPts val="500"/>
              </a:spcBef>
            </a:pPr>
            <a:r>
              <a:rPr sz="1700" b="0">
                <a:solidFill>
                  <a:srgbClr val="1B1B1B"/>
                </a:solidFill>
              </a:rPr>
              <a:t>• Helps ensure safe and reliable operation of connected urban infrastructure</a:t>
            </a:r>
          </a:p>
        </p:txBody>
      </p:sp>
      <p:sp>
        <p:nvSpPr>
          <p:cNvPr id="10" name="Rounded Rectangle 9"/>
          <p:cNvSpPr/>
          <p:nvPr/>
        </p:nvSpPr>
        <p:spPr>
          <a:xfrm>
            <a:off x="8015266" y="1740688"/>
            <a:ext cx="3338533" cy="3250000"/>
          </a:xfrm>
          <a:prstGeom prst="roundRect">
            <a:avLst>
              <a:gd name="adj" fmla="val 6000"/>
            </a:avLst>
          </a:prstGeom>
          <a:solidFill>
            <a:srgbClr val="F9E1E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50000" rIns="150000" tIns="120000"/>
          <a:lstStyle/>
          <a:p>
            <a:pPr algn="l"/>
            <a:r>
              <a:rPr sz="1800" b="1">
                <a:solidFill>
                  <a:srgbClr val="D64550"/>
                </a:solidFill>
              </a:rPr>
              <a:t>SDG 16: Peace, Justice and Strong Institutions</a:t>
            </a:r>
          </a:p>
          <a:p>
            <a:pPr algn="l">
              <a:spcBef>
                <a:spcPts val="500"/>
              </a:spcBef>
            </a:pPr>
            <a:r>
              <a:rPr sz="1700" b="0">
                <a:solidFill>
                  <a:srgbClr val="1B1B1B"/>
                </a:solidFill>
              </a:rPr>
              <a:t>• Strengthens cybersecurity</a:t>
            </a:r>
          </a:p>
          <a:p>
            <a:pPr algn="l">
              <a:spcBef>
                <a:spcPts val="500"/>
              </a:spcBef>
            </a:pPr>
            <a:r>
              <a:rPr sz="1700" b="0">
                <a:solidFill>
                  <a:srgbClr val="1B1B1B"/>
                </a:solidFill>
              </a:rPr>
              <a:t>• Protects sensitive digital data</a:t>
            </a:r>
          </a:p>
        </p:txBody>
      </p:sp>
      <p:sp>
        <p:nvSpPr>
          <p:cNvPr id="11" name="TextBox 10"/>
          <p:cNvSpPr txBox="1"/>
          <p:nvPr/>
        </p:nvSpPr>
        <p:spPr>
          <a:xfrm>
            <a:off x="838200" y="5190688"/>
            <a:ext cx="10515600" cy="500000"/>
          </a:xfrm>
          <a:prstGeom prst="rect">
            <a:avLst/>
          </a:prstGeom>
          <a:noFill/>
        </p:spPr>
        <p:txBody>
          <a:bodyPr wrap="square" anchor="t" lIns="0" rIns="0">
            <a:spAutoFit/>
          </a:bodyPr>
          <a:lstStyle/>
          <a:p>
            <a:pPr algn="ctr"/>
            <a:r>
              <a:rPr sz="2000" b="0">
                <a:solidFill>
                  <a:srgbClr val="1B1B1B"/>
                </a:solidFill>
              </a:rPr>
              <a:t>Promotes </a:t>
            </a:r>
            <a:r>
              <a:rPr sz="2000" b="1">
                <a:solidFill>
                  <a:srgbClr val="1B1B1B"/>
                </a:solidFill>
              </a:rPr>
              <a:t>secure and resilient digital ecosystems</a:t>
            </a:r>
          </a:p>
        </p:txBody>
      </p:sp>
    </p:spTree>
    <p:extLst>
      <p:ext uri="{BB962C8B-B14F-4D97-AF65-F5344CB8AC3E}">
        <p14:creationId xmlns:p14="http://schemas.microsoft.com/office/powerpoint/2010/main" val="39632662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Collaboration</a:t>
            </a:r>
          </a:p>
        </p:txBody>
      </p:sp>
      <p:sp>
        <p:nvSpPr>
          <p:cNvPr id="4" name="Date Placeholder 3"/>
          <p:cNvSpPr>
            <a:spLocks noGrp="1"/>
          </p:cNvSpPr>
          <p:nvPr>
            <p:ph type="dt" sz="half" idx="10"/>
          </p:nvPr>
        </p:nvSpPr>
        <p:spPr/>
        <p:txBody>
          <a:bodyPr/>
          <a:lstStyle/>
          <a:p>
            <a:r>
              <a:rPr lang="en-IN"/>
              <a:t>16-10-2026</a:t>
            </a:r>
          </a:p>
        </p:txBody>
      </p:sp>
      <p:sp>
        <p:nvSpPr>
          <p:cNvPr id="5" name="Footer Placeholder 4"/>
          <p:cNvSpPr>
            <a:spLocks noGrp="1"/>
          </p:cNvSpPr>
          <p:nvPr>
            <p:ph type="ftr" sz="quarter" idx="11"/>
          </p:nvPr>
        </p:nvSpPr>
        <p:spPr/>
        <p:txBody>
          <a:bodyPr/>
          <a:lstStyle/>
          <a:p>
            <a:r>
              <a:rPr lang="en-IN"/>
              <a:t>FL-IDS                         Department of CSE, BMSCE</a:t>
            </a:r>
          </a:p>
        </p:txBody>
      </p:sp>
      <p:sp>
        <p:nvSpPr>
          <p:cNvPr id="6" name="Slide Number Placeholder 5"/>
          <p:cNvSpPr>
            <a:spLocks noGrp="1"/>
          </p:cNvSpPr>
          <p:nvPr>
            <p:ph type="sldNum" sz="quarter" idx="12"/>
          </p:nvPr>
        </p:nvSpPr>
        <p:spPr/>
        <p:txBody>
          <a:bodyPr/>
          <a:lstStyle/>
          <a:p>
            <a:fld id="{840E0BF8-4B7D-46FA-B28A-DDF089F57DAF}" type="slidenum">
              <a:rPr lang="en-IN" smtClean="0"/>
              <a:t>5</a:t>
            </a:fld>
            <a:endParaRPr lang="en-IN"/>
          </a:p>
        </p:txBody>
      </p:sp>
      <p:pic>
        <p:nvPicPr>
          <p:cNvPr id="7" name="Picture 1">
            <a:extLst>
              <a:ext uri="{FF2B5EF4-FFF2-40B4-BE49-F238E27FC236}">
                <a16:creationId xmlns:a16="http://schemas.microsoft.com/office/drawing/2014/main" id="{1AA8B2C5-EAB6-457D-B8D9-FCE4717778B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028362" y="0"/>
            <a:ext cx="1163638"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ounded Rectangle 7"/>
          <p:cNvSpPr/>
          <p:nvPr/>
        </p:nvSpPr>
        <p:spPr>
          <a:xfrm>
            <a:off x="838200" y="1790688"/>
            <a:ext cx="10515600" cy="1300000"/>
          </a:xfrm>
          <a:prstGeom prst="roundRect">
            <a:avLst>
              <a:gd name="adj" fmla="val 6000"/>
            </a:avLst>
          </a:prstGeom>
          <a:solidFill>
            <a:srgbClr val="E3E7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50000" rIns="150000" tIns="120000"/>
          <a:lstStyle/>
          <a:p>
            <a:pPr algn="l"/>
            <a:r>
              <a:rPr sz="2000" b="1">
                <a:solidFill>
                  <a:srgbClr val="1E2761"/>
                </a:solidFill>
              </a:rPr>
              <a:t>Category: Not a multidisciplinary project</a:t>
            </a:r>
          </a:p>
          <a:p>
            <a:pPr algn="l">
              <a:spcBef>
                <a:spcPts val="500"/>
              </a:spcBef>
            </a:pPr>
            <a:r>
              <a:rPr sz="1700" b="0">
                <a:solidFill>
                  <a:srgbClr val="1B1B1B"/>
                </a:solidFill>
              </a:rPr>
              <a:t>A Computer Science and Engineering project; not community-oriented or multidisciplinary.</a:t>
            </a:r>
          </a:p>
        </p:txBody>
      </p:sp>
      <p:sp>
        <p:nvSpPr>
          <p:cNvPr id="9" name="Rounded Rectangle 8"/>
          <p:cNvSpPr/>
          <p:nvPr/>
        </p:nvSpPr>
        <p:spPr>
          <a:xfrm>
            <a:off x="838200" y="3340688"/>
            <a:ext cx="10515600" cy="170000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50000" rIns="150000" tIns="120000"/>
          <a:lstStyle/>
          <a:p>
            <a:pPr algn="l"/>
            <a:r>
              <a:rPr sz="2000" b="1">
                <a:solidFill>
                  <a:srgbClr val="5B6770"/>
                </a:solidFill>
              </a:rPr>
              <a:t>Field work / collaboration</a:t>
            </a:r>
          </a:p>
          <a:p>
            <a:pPr algn="l">
              <a:spcBef>
                <a:spcPts val="500"/>
              </a:spcBef>
            </a:pPr>
            <a:r>
              <a:rPr sz="1700" b="0">
                <a:solidFill>
                  <a:srgbClr val="1B1B1B"/>
                </a:solidFill>
              </a:rPr>
              <a:t>No external collaboration.</a:t>
            </a:r>
          </a:p>
          <a:p>
            <a:pPr algn="l">
              <a:spcBef>
                <a:spcPts val="500"/>
              </a:spcBef>
            </a:pPr>
            <a:r>
              <a:rPr sz="1700" b="0">
                <a:solidFill>
                  <a:srgbClr val="1B1B1B"/>
                </a:solidFill>
              </a:rPr>
              <a:t>We use the public Edge-IIoTset dataset and its real packet captures, recorded on a seven-layer IoT/IIoT testbed with 10+ kinds of sensors (Ferrag et al., IEEE Access, 2022).</a:t>
            </a:r>
          </a:p>
        </p:txBody>
      </p:sp>
    </p:spTree>
    <p:extLst>
      <p:ext uri="{BB962C8B-B14F-4D97-AF65-F5344CB8AC3E}">
        <p14:creationId xmlns:p14="http://schemas.microsoft.com/office/powerpoint/2010/main" val="5045804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Problem Statement </a:t>
            </a:r>
          </a:p>
        </p:txBody>
      </p:sp>
      <p:sp>
        <p:nvSpPr>
          <p:cNvPr id="4" name="Footer Placeholder 3"/>
          <p:cNvSpPr>
            <a:spLocks noGrp="1"/>
          </p:cNvSpPr>
          <p:nvPr>
            <p:ph type="ftr" sz="quarter" idx="11"/>
          </p:nvPr>
        </p:nvSpPr>
        <p:spPr/>
        <p:txBody>
          <a:bodyPr/>
          <a:lstStyle/>
          <a:p>
            <a:r>
              <a:rPr lang="en-IN"/>
              <a:t>FL-IDS                         Department of CSE, BMSCE</a:t>
            </a:r>
          </a:p>
        </p:txBody>
      </p:sp>
      <p:sp>
        <p:nvSpPr>
          <p:cNvPr id="5" name="Slide Number Placeholder 4"/>
          <p:cNvSpPr>
            <a:spLocks noGrp="1"/>
          </p:cNvSpPr>
          <p:nvPr>
            <p:ph type="sldNum" sz="quarter" idx="12"/>
          </p:nvPr>
        </p:nvSpPr>
        <p:spPr/>
        <p:txBody>
          <a:bodyPr/>
          <a:lstStyle/>
          <a:p>
            <a:fld id="{840E0BF8-4B7D-46FA-B28A-DDF089F57DAF}" type="slidenum">
              <a:rPr lang="en-IN" smtClean="0"/>
              <a:t>6</a:t>
            </a:fld>
            <a:endParaRPr lang="en-IN"/>
          </a:p>
        </p:txBody>
      </p:sp>
      <p:pic>
        <p:nvPicPr>
          <p:cNvPr id="6"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028362" y="19050"/>
            <a:ext cx="1163638"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Date Placeholder 6"/>
          <p:cNvSpPr>
            <a:spLocks noGrp="1"/>
          </p:cNvSpPr>
          <p:nvPr>
            <p:ph type="dt" sz="half" idx="10"/>
          </p:nvPr>
        </p:nvSpPr>
        <p:spPr/>
        <p:txBody>
          <a:bodyPr/>
          <a:lstStyle/>
          <a:p>
            <a:r>
              <a:rPr lang="en-IN"/>
              <a:t>16-10-2026</a:t>
            </a:r>
          </a:p>
        </p:txBody>
      </p:sp>
      <p:sp>
        <p:nvSpPr>
          <p:cNvPr id="8" name="TextBox 7"/>
          <p:cNvSpPr txBox="1"/>
          <p:nvPr/>
        </p:nvSpPr>
        <p:spPr>
          <a:xfrm>
            <a:off x="838200" y="1610688"/>
            <a:ext cx="10515600" cy="500000"/>
          </a:xfrm>
          <a:prstGeom prst="rect">
            <a:avLst/>
          </a:prstGeom>
          <a:noFill/>
        </p:spPr>
        <p:txBody>
          <a:bodyPr wrap="square" anchor="t" lIns="0" rIns="0">
            <a:spAutoFit/>
          </a:bodyPr>
          <a:lstStyle/>
          <a:p>
            <a:pPr algn="l"/>
            <a:r>
              <a:rPr sz="1800" b="0">
                <a:solidFill>
                  <a:srgbClr val="1B1B1B"/>
                </a:solidFill>
              </a:rPr>
              <a:t>IoT and industrial IoT devices are everywhere, lightly protected, and attacked constantly.</a:t>
            </a:r>
          </a:p>
        </p:txBody>
      </p:sp>
      <p:sp>
        <p:nvSpPr>
          <p:cNvPr id="9" name="Rounded Rectangle 8"/>
          <p:cNvSpPr/>
          <p:nvPr/>
        </p:nvSpPr>
        <p:spPr>
          <a:xfrm>
            <a:off x="838200" y="2240688"/>
            <a:ext cx="2463900" cy="2100000"/>
          </a:xfrm>
          <a:prstGeom prst="roundRect">
            <a:avLst>
              <a:gd name="adj" fmla="val 6000"/>
            </a:avLst>
          </a:prstGeom>
          <a:solidFill>
            <a:srgbClr val="E3E7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50000" rIns="150000" tIns="120000"/>
          <a:lstStyle/>
          <a:p>
            <a:pPr algn="l"/>
            <a:r>
              <a:rPr sz="1900" b="1">
                <a:solidFill>
                  <a:srgbClr val="1E2761"/>
                </a:solidFill>
              </a:rPr>
              <a:t>Privacy</a:t>
            </a:r>
          </a:p>
          <a:p>
            <a:pPr algn="l">
              <a:spcBef>
                <a:spcPts val="500"/>
              </a:spcBef>
            </a:pPr>
            <a:r>
              <a:rPr sz="1500" b="0">
                <a:solidFill>
                  <a:srgbClr val="1B1B1B"/>
                </a:solidFill>
              </a:rPr>
              <a:t>Sending every site's raw traffic to one place exposes how a factory or building runs.</a:t>
            </a:r>
          </a:p>
        </p:txBody>
      </p:sp>
      <p:sp>
        <p:nvSpPr>
          <p:cNvPr id="10" name="Rounded Rectangle 9"/>
          <p:cNvSpPr/>
          <p:nvPr/>
        </p:nvSpPr>
        <p:spPr>
          <a:xfrm>
            <a:off x="3522100" y="2240688"/>
            <a:ext cx="2463900" cy="2100000"/>
          </a:xfrm>
          <a:prstGeom prst="roundRect">
            <a:avLst>
              <a:gd name="adj" fmla="val 6000"/>
            </a:avLst>
          </a:prstGeom>
          <a:solidFill>
            <a:srgbClr val="DDF1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50000" rIns="150000" tIns="120000"/>
          <a:lstStyle/>
          <a:p>
            <a:pPr algn="l"/>
            <a:r>
              <a:rPr sz="1900" b="1">
                <a:solidFill>
                  <a:srgbClr val="0A9396"/>
                </a:solidFill>
              </a:rPr>
              <a:t>New attacks</a:t>
            </a:r>
          </a:p>
          <a:p>
            <a:pPr algn="l">
              <a:spcBef>
                <a:spcPts val="500"/>
              </a:spcBef>
            </a:pPr>
            <a:r>
              <a:rPr sz="1500" b="0">
                <a:solidFill>
                  <a:srgbClr val="1B1B1B"/>
                </a:solidFill>
              </a:rPr>
              <a:t>A normal classifier can only name attacks it was trained on.</a:t>
            </a:r>
          </a:p>
        </p:txBody>
      </p:sp>
      <p:sp>
        <p:nvSpPr>
          <p:cNvPr id="11" name="Rounded Rectangle 10"/>
          <p:cNvSpPr/>
          <p:nvPr/>
        </p:nvSpPr>
        <p:spPr>
          <a:xfrm>
            <a:off x="6206000" y="2240688"/>
            <a:ext cx="2463900" cy="2100000"/>
          </a:xfrm>
          <a:prstGeom prst="roundRect">
            <a:avLst>
              <a:gd name="adj" fmla="val 6000"/>
            </a:avLst>
          </a:prstGeom>
          <a:solidFill>
            <a:srgbClr val="F9E1E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50000" rIns="150000" tIns="120000"/>
          <a:lstStyle/>
          <a:p>
            <a:pPr algn="l"/>
            <a:r>
              <a:rPr sz="1900" b="1">
                <a:solidFill>
                  <a:srgbClr val="D64550"/>
                </a:solidFill>
              </a:rPr>
              <a:t>Sabotage</a:t>
            </a:r>
          </a:p>
          <a:p>
            <a:pPr algn="l">
              <a:spcBef>
                <a:spcPts val="500"/>
              </a:spcBef>
            </a:pPr>
            <a:r>
              <a:rPr sz="1500" b="0">
                <a:solidFill>
                  <a:srgbClr val="1B1B1B"/>
                </a:solidFill>
              </a:rPr>
              <a:t>In shared training, a few bad participants can poison the model.</a:t>
            </a:r>
          </a:p>
        </p:txBody>
      </p:sp>
      <p:sp>
        <p:nvSpPr>
          <p:cNvPr id="12" name="Rounded Rectangle 11"/>
          <p:cNvSpPr/>
          <p:nvPr/>
        </p:nvSpPr>
        <p:spPr>
          <a:xfrm>
            <a:off x="8889900" y="2240688"/>
            <a:ext cx="2463900" cy="2100000"/>
          </a:xfrm>
          <a:prstGeom prst="roundRect">
            <a:avLst>
              <a:gd name="adj" fmla="val 6000"/>
            </a:avLst>
          </a:prstGeom>
          <a:solidFill>
            <a:srgbClr val="FBF0D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50000" rIns="150000" tIns="120000"/>
          <a:lstStyle/>
          <a:p>
            <a:pPr algn="l"/>
            <a:r>
              <a:rPr sz="1900" b="1">
                <a:solidFill>
                  <a:srgbClr val="C98A0B"/>
                </a:solidFill>
              </a:rPr>
              <a:t>No action</a:t>
            </a:r>
          </a:p>
          <a:p>
            <a:pPr algn="l">
              <a:spcBef>
                <a:spcPts val="500"/>
              </a:spcBef>
            </a:pPr>
            <a:r>
              <a:rPr sz="1500" b="0">
                <a:solidFill>
                  <a:srgbClr val="1B1B1B"/>
                </a:solidFill>
              </a:rPr>
              <a:t>Detecting an attack does not stop it.</a:t>
            </a:r>
          </a:p>
        </p:txBody>
      </p:sp>
      <p:sp>
        <p:nvSpPr>
          <p:cNvPr id="13" name="Rounded Rectangle 12"/>
          <p:cNvSpPr/>
          <p:nvPr/>
        </p:nvSpPr>
        <p:spPr>
          <a:xfrm>
            <a:off x="838200" y="4540688"/>
            <a:ext cx="10515600" cy="105000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50000" rIns="150000" tIns="120000"/>
          <a:lstStyle/>
          <a:p>
            <a:pPr algn="l"/>
            <a:r>
              <a:rPr sz="1800" b="1">
                <a:solidFill>
                  <a:srgbClr val="1E2761"/>
                </a:solidFill>
              </a:rPr>
              <a:t>Our goal</a:t>
            </a:r>
          </a:p>
          <a:p>
            <a:pPr algn="l">
              <a:spcBef>
                <a:spcPts val="500"/>
              </a:spcBef>
            </a:pPr>
            <a:r>
              <a:rPr sz="1700" b="0">
                <a:solidFill>
                  <a:srgbClr val="1B1B1B"/>
                </a:solidFill>
              </a:rPr>
              <a:t>One system that solves all four, and classifies attacks with at least 95% accuracy and 0.95 macro F1.</a:t>
            </a:r>
          </a:p>
        </p:txBody>
      </p:sp>
    </p:spTree>
    <p:extLst>
      <p:ext uri="{BB962C8B-B14F-4D97-AF65-F5344CB8AC3E}">
        <p14:creationId xmlns:p14="http://schemas.microsoft.com/office/powerpoint/2010/main" val="18854803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Objectives</a:t>
            </a:r>
          </a:p>
        </p:txBody>
      </p:sp>
      <p:sp>
        <p:nvSpPr>
          <p:cNvPr id="4" name="Footer Placeholder 3"/>
          <p:cNvSpPr>
            <a:spLocks noGrp="1"/>
          </p:cNvSpPr>
          <p:nvPr>
            <p:ph type="ftr" sz="quarter" idx="11"/>
          </p:nvPr>
        </p:nvSpPr>
        <p:spPr/>
        <p:txBody>
          <a:bodyPr/>
          <a:lstStyle/>
          <a:p>
            <a:r>
              <a:rPr lang="en-IN"/>
              <a:t>FL-IDS                         Department of CSE, BMSCE</a:t>
            </a:r>
          </a:p>
        </p:txBody>
      </p:sp>
      <p:sp>
        <p:nvSpPr>
          <p:cNvPr id="5" name="Slide Number Placeholder 4"/>
          <p:cNvSpPr>
            <a:spLocks noGrp="1"/>
          </p:cNvSpPr>
          <p:nvPr>
            <p:ph type="sldNum" sz="quarter" idx="12"/>
          </p:nvPr>
        </p:nvSpPr>
        <p:spPr/>
        <p:txBody>
          <a:bodyPr/>
          <a:lstStyle/>
          <a:p>
            <a:fld id="{840E0BF8-4B7D-46FA-B28A-DDF089F57DAF}" type="slidenum">
              <a:rPr lang="en-IN" smtClean="0"/>
              <a:t>6</a:t>
            </a:fld>
            <a:endParaRPr lang="en-IN"/>
          </a:p>
        </p:txBody>
      </p:sp>
      <p:pic>
        <p:nvPicPr>
          <p:cNvPr id="6"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028362" y="19050"/>
            <a:ext cx="1163638"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Date Placeholder 6"/>
          <p:cNvSpPr>
            <a:spLocks noGrp="1"/>
          </p:cNvSpPr>
          <p:nvPr>
            <p:ph type="dt" sz="half" idx="10"/>
          </p:nvPr>
        </p:nvSpPr>
        <p:spPr/>
        <p:txBody>
          <a:bodyPr/>
          <a:lstStyle/>
          <a:p>
            <a:r>
              <a:rPr lang="en-IN"/>
              <a:t>16-10-2026</a:t>
            </a:r>
          </a:p>
        </p:txBody>
      </p:sp>
      <p:sp>
        <p:nvSpPr>
          <p:cNvPr id="8" name="Rounded Rectangle 7"/>
          <p:cNvSpPr/>
          <p:nvPr/>
        </p:nvSpPr>
        <p:spPr>
          <a:xfrm>
            <a:off x="838200" y="1690688"/>
            <a:ext cx="5132800" cy="1950000"/>
          </a:xfrm>
          <a:prstGeom prst="roundRect">
            <a:avLst>
              <a:gd name="adj" fmla="val 6000"/>
            </a:avLst>
          </a:prstGeom>
          <a:solidFill>
            <a:srgbClr val="E3E7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50000" rIns="150000" tIns="120000"/>
          <a:lstStyle/>
          <a:p>
            <a:pPr algn="l"/>
            <a:r>
              <a:rPr sz="1800" b="1">
                <a:solidFill>
                  <a:srgbClr val="1E2761"/>
                </a:solidFill>
              </a:rPr>
              <a:t>1. Malicious Client Detection &amp; Filtering</a:t>
            </a:r>
          </a:p>
          <a:p>
            <a:pPr algn="l">
              <a:spcBef>
                <a:spcPts val="500"/>
              </a:spcBef>
            </a:pPr>
            <a:r>
              <a:rPr sz="1600" b="0">
                <a:solidFill>
                  <a:srgbClr val="1B1B1B"/>
                </a:solidFill>
              </a:rPr>
              <a:t>To develop a </a:t>
            </a:r>
            <a:r>
              <a:rPr sz="1600" b="1">
                <a:solidFill>
                  <a:srgbClr val="1B1B1B"/>
                </a:solidFill>
              </a:rPr>
              <a:t>malicious client detection mechanism</a:t>
            </a:r>
            <a:r>
              <a:rPr sz="1600" b="0">
                <a:solidFill>
                  <a:srgbClr val="1B1B1B"/>
                </a:solidFill>
              </a:rPr>
              <a:t> using anomaly-based or trust-based evaluation to identify and filter compromised participants in the federated network.</a:t>
            </a:r>
          </a:p>
        </p:txBody>
      </p:sp>
      <p:sp>
        <p:nvSpPr>
          <p:cNvPr id="9" name="Rounded Rectangle 8"/>
          <p:cNvSpPr/>
          <p:nvPr/>
        </p:nvSpPr>
        <p:spPr>
          <a:xfrm>
            <a:off x="6221000" y="1690688"/>
            <a:ext cx="5132800" cy="1950000"/>
          </a:xfrm>
          <a:prstGeom prst="roundRect">
            <a:avLst>
              <a:gd name="adj" fmla="val 6000"/>
            </a:avLst>
          </a:prstGeom>
          <a:solidFill>
            <a:srgbClr val="DDF1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50000" rIns="150000" tIns="120000"/>
          <a:lstStyle/>
          <a:p>
            <a:pPr algn="l"/>
            <a:r>
              <a:rPr sz="1800" b="1">
                <a:solidFill>
                  <a:srgbClr val="0A9396"/>
                </a:solidFill>
              </a:rPr>
              <a:t>2. Efficient Privacy-Aware FL Design</a:t>
            </a:r>
          </a:p>
          <a:p>
            <a:pPr algn="l">
              <a:spcBef>
                <a:spcPts val="500"/>
              </a:spcBef>
            </a:pPr>
            <a:r>
              <a:rPr sz="1600" b="0">
                <a:solidFill>
                  <a:srgbClr val="1B1B1B"/>
                </a:solidFill>
              </a:rPr>
              <a:t>To design a </a:t>
            </a:r>
            <a:r>
              <a:rPr sz="1600" b="1">
                <a:solidFill>
                  <a:srgbClr val="1B1B1B"/>
                </a:solidFill>
              </a:rPr>
              <a:t>lightweight and efficient federated learning framework</a:t>
            </a:r>
            <a:r>
              <a:rPr sz="1600" b="0">
                <a:solidFill>
                  <a:srgbClr val="1B1B1B"/>
                </a:solidFill>
              </a:rPr>
              <a:t> that balances privacy and performance while minimizing computational and communication overhead in resource-constrained IoT environments.</a:t>
            </a:r>
          </a:p>
        </p:txBody>
      </p:sp>
      <p:sp>
        <p:nvSpPr>
          <p:cNvPr id="10" name="Rounded Rectangle 9"/>
          <p:cNvSpPr/>
          <p:nvPr/>
        </p:nvSpPr>
        <p:spPr>
          <a:xfrm>
            <a:off x="838200" y="3840688"/>
            <a:ext cx="5132800" cy="1950000"/>
          </a:xfrm>
          <a:prstGeom prst="roundRect">
            <a:avLst>
              <a:gd name="adj" fmla="val 6000"/>
            </a:avLst>
          </a:prstGeom>
          <a:solidFill>
            <a:srgbClr val="F9E1E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50000" rIns="150000" tIns="120000"/>
          <a:lstStyle/>
          <a:p>
            <a:pPr algn="l"/>
            <a:r>
              <a:rPr sz="1800" b="1">
                <a:solidFill>
                  <a:srgbClr val="D64550"/>
                </a:solidFill>
              </a:rPr>
              <a:t>3. Model Optimization for Scalability</a:t>
            </a:r>
          </a:p>
          <a:p>
            <a:pPr algn="l">
              <a:spcBef>
                <a:spcPts val="500"/>
              </a:spcBef>
            </a:pPr>
            <a:r>
              <a:rPr sz="1600" b="0">
                <a:solidFill>
                  <a:srgbClr val="1B1B1B"/>
                </a:solidFill>
              </a:rPr>
              <a:t>To enhance system scalability by applying </a:t>
            </a:r>
            <a:r>
              <a:rPr sz="1600" b="1">
                <a:solidFill>
                  <a:srgbClr val="1B1B1B"/>
                </a:solidFill>
              </a:rPr>
              <a:t>model optimization techniques such as weight pruning</a:t>
            </a:r>
            <a:r>
              <a:rPr sz="1600" b="0">
                <a:solidFill>
                  <a:srgbClr val="1B1B1B"/>
                </a:solidFill>
              </a:rPr>
              <a:t>, reducing computational and communication overhead.</a:t>
            </a:r>
          </a:p>
        </p:txBody>
      </p:sp>
      <p:sp>
        <p:nvSpPr>
          <p:cNvPr id="11" name="Rounded Rectangle 10"/>
          <p:cNvSpPr/>
          <p:nvPr/>
        </p:nvSpPr>
        <p:spPr>
          <a:xfrm>
            <a:off x="6221000" y="3840688"/>
            <a:ext cx="5132800" cy="1950000"/>
          </a:xfrm>
          <a:prstGeom prst="roundRect">
            <a:avLst>
              <a:gd name="adj" fmla="val 6000"/>
            </a:avLst>
          </a:prstGeom>
          <a:solidFill>
            <a:srgbClr val="FBF0D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50000" rIns="150000" tIns="120000"/>
          <a:lstStyle/>
          <a:p>
            <a:pPr algn="l"/>
            <a:r>
              <a:rPr sz="1800" b="1">
                <a:solidFill>
                  <a:srgbClr val="C98A0B"/>
                </a:solidFill>
              </a:rPr>
              <a:t>4. Semi-Supervised &amp; Anomaly-Based Detection</a:t>
            </a:r>
          </a:p>
          <a:p>
            <a:pPr algn="l">
              <a:spcBef>
                <a:spcPts val="500"/>
              </a:spcBef>
            </a:pPr>
            <a:r>
              <a:rPr sz="1600" b="0">
                <a:solidFill>
                  <a:srgbClr val="1B1B1B"/>
                </a:solidFill>
              </a:rPr>
              <a:t>To integrate </a:t>
            </a:r>
            <a:r>
              <a:rPr sz="1600" b="1">
                <a:solidFill>
                  <a:srgbClr val="1B1B1B"/>
                </a:solidFill>
              </a:rPr>
              <a:t>semi-supervised learning and Autoencoder-based anomaly detection</a:t>
            </a:r>
            <a:r>
              <a:rPr sz="1600" b="0">
                <a:solidFill>
                  <a:srgbClr val="1B1B1B"/>
                </a:solidFill>
              </a:rPr>
              <a:t> to effectively identify abnormal or potentially poisoned patterns without relying entirely on labeled data.</a:t>
            </a:r>
          </a:p>
        </p:txBody>
      </p:sp>
    </p:spTree>
    <p:extLst>
      <p:ext uri="{BB962C8B-B14F-4D97-AF65-F5344CB8AC3E}">
        <p14:creationId xmlns:p14="http://schemas.microsoft.com/office/powerpoint/2010/main" val="18854803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High level Design</a:t>
            </a:r>
          </a:p>
        </p:txBody>
      </p:sp>
      <p:sp>
        <p:nvSpPr>
          <p:cNvPr id="4" name="Footer Placeholder 3"/>
          <p:cNvSpPr>
            <a:spLocks noGrp="1"/>
          </p:cNvSpPr>
          <p:nvPr>
            <p:ph type="ftr" sz="quarter" idx="11"/>
          </p:nvPr>
        </p:nvSpPr>
        <p:spPr/>
        <p:txBody>
          <a:bodyPr/>
          <a:lstStyle/>
          <a:p>
            <a:r>
              <a:rPr lang="en-IN"/>
              <a:t>FL-IDS                         Department of CSE, BMSCE</a:t>
            </a:r>
          </a:p>
        </p:txBody>
      </p:sp>
      <p:sp>
        <p:nvSpPr>
          <p:cNvPr id="5" name="Slide Number Placeholder 4"/>
          <p:cNvSpPr>
            <a:spLocks noGrp="1"/>
          </p:cNvSpPr>
          <p:nvPr>
            <p:ph type="sldNum" sz="quarter" idx="12"/>
          </p:nvPr>
        </p:nvSpPr>
        <p:spPr/>
        <p:txBody>
          <a:bodyPr/>
          <a:lstStyle/>
          <a:p>
            <a:fld id="{840E0BF8-4B7D-46FA-B28A-DDF089F57DAF}" type="slidenum">
              <a:rPr lang="en-IN" smtClean="0"/>
              <a:t>7</a:t>
            </a:fld>
            <a:endParaRPr lang="en-IN"/>
          </a:p>
        </p:txBody>
      </p:sp>
      <p:pic>
        <p:nvPicPr>
          <p:cNvPr id="6"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028362" y="19050"/>
            <a:ext cx="1163638"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Date Placeholder 6"/>
          <p:cNvSpPr>
            <a:spLocks noGrp="1"/>
          </p:cNvSpPr>
          <p:nvPr>
            <p:ph type="dt" sz="half" idx="10"/>
          </p:nvPr>
        </p:nvSpPr>
        <p:spPr/>
        <p:txBody>
          <a:bodyPr/>
          <a:lstStyle/>
          <a:p>
            <a:r>
              <a:rPr lang="en-IN"/>
              <a:t>16-10-2026</a:t>
            </a:r>
          </a:p>
        </p:txBody>
      </p:sp>
      <p:sp>
        <p:nvSpPr>
          <p:cNvPr id="8" name="Rounded Rectangle 7"/>
          <p:cNvSpPr/>
          <p:nvPr/>
        </p:nvSpPr>
        <p:spPr>
          <a:xfrm>
            <a:off x="838200" y="2340688"/>
            <a:ext cx="1919120" cy="190000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50000" rIns="150000" tIns="120000"/>
          <a:lstStyle/>
          <a:p>
            <a:pPr algn="l"/>
            <a:r>
              <a:rPr sz="1500" b="1">
                <a:solidFill>
                  <a:srgbClr val="5B6770"/>
                </a:solidFill>
              </a:rPr>
              <a:t> </a:t>
            </a:r>
          </a:p>
          <a:p>
            <a:pPr algn="l">
              <a:spcBef>
                <a:spcPts val="500"/>
              </a:spcBef>
            </a:pPr>
            <a:r>
              <a:rPr sz="1400" b="0">
                <a:solidFill>
                  <a:srgbClr val="1B1B1B"/>
                </a:solidFill>
              </a:rPr>
              <a:t>10 sites; traffic stays local</a:t>
            </a:r>
          </a:p>
        </p:txBody>
      </p:sp>
      <p:sp>
        <p:nvSpPr>
          <p:cNvPr id="9" name="TextBox 8"/>
          <p:cNvSpPr txBox="1"/>
          <p:nvPr/>
        </p:nvSpPr>
        <p:spPr>
          <a:xfrm>
            <a:off x="1418200" y="2410688"/>
            <a:ext cx="1239120" cy="450000"/>
          </a:xfrm>
          <a:prstGeom prst="rect">
            <a:avLst/>
          </a:prstGeom>
          <a:noFill/>
        </p:spPr>
        <p:txBody>
          <a:bodyPr wrap="square" anchor="ctr" lIns="0" rIns="0">
            <a:spAutoFit/>
          </a:bodyPr>
          <a:lstStyle/>
          <a:p>
            <a:pPr algn="l"/>
            <a:r>
              <a:rPr sz="1500" b="1">
                <a:solidFill>
                  <a:srgbClr val="5B6770"/>
                </a:solidFill>
              </a:rPr>
              <a:t>IoT sites</a:t>
            </a:r>
          </a:p>
        </p:txBody>
      </p:sp>
      <p:sp>
        <p:nvSpPr>
          <p:cNvPr id="10" name="Oval 9"/>
          <p:cNvSpPr/>
          <p:nvPr/>
        </p:nvSpPr>
        <p:spPr>
          <a:xfrm>
            <a:off x="948200" y="2435688"/>
            <a:ext cx="380000" cy="380000"/>
          </a:xfrm>
          <a:prstGeom prst="ellipse">
            <a:avLst/>
          </a:prstGeom>
          <a:solidFill>
            <a:srgbClr val="5B677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rPr>
              <a:t>1</a:t>
            </a:r>
          </a:p>
        </p:txBody>
      </p:sp>
      <p:cxnSp>
        <p:nvCxnSpPr>
          <p:cNvPr id="11" name="Connector 10"/>
          <p:cNvCxnSpPr/>
          <p:nvPr/>
        </p:nvCxnSpPr>
        <p:spPr>
          <a:xfrm>
            <a:off x="2772320" y="3290688"/>
            <a:ext cx="200000" cy="0"/>
          </a:xfrm>
          <a:prstGeom prst="line">
            <a:avLst/>
          </a:prstGeom>
          <a:ln w="25400">
            <a:solidFill>
              <a:srgbClr val="5B67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987320" y="2340688"/>
            <a:ext cx="1919120" cy="1900000"/>
          </a:xfrm>
          <a:prstGeom prst="roundRect">
            <a:avLst>
              <a:gd name="adj" fmla="val 6000"/>
            </a:avLst>
          </a:prstGeom>
          <a:solidFill>
            <a:srgbClr val="DDF1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50000" rIns="150000" tIns="120000"/>
          <a:lstStyle/>
          <a:p>
            <a:pPr algn="l"/>
            <a:r>
              <a:rPr sz="1500" b="1">
                <a:solidFill>
                  <a:srgbClr val="0A9396"/>
                </a:solidFill>
              </a:rPr>
              <a:t> </a:t>
            </a:r>
          </a:p>
          <a:p>
            <a:pPr algn="l">
              <a:spcBef>
                <a:spcPts val="500"/>
              </a:spcBef>
            </a:pPr>
            <a:r>
              <a:rPr sz="1400" b="0">
                <a:solidFill>
                  <a:srgbClr val="1B1B1B"/>
                </a:solidFill>
              </a:rPr>
              <a:t>each site trains its own copy</a:t>
            </a:r>
          </a:p>
        </p:txBody>
      </p:sp>
      <p:sp>
        <p:nvSpPr>
          <p:cNvPr id="13" name="TextBox 12"/>
          <p:cNvSpPr txBox="1"/>
          <p:nvPr/>
        </p:nvSpPr>
        <p:spPr>
          <a:xfrm>
            <a:off x="3567320" y="2410688"/>
            <a:ext cx="1239120" cy="450000"/>
          </a:xfrm>
          <a:prstGeom prst="rect">
            <a:avLst/>
          </a:prstGeom>
          <a:noFill/>
        </p:spPr>
        <p:txBody>
          <a:bodyPr wrap="square" anchor="ctr" lIns="0" rIns="0">
            <a:spAutoFit/>
          </a:bodyPr>
          <a:lstStyle/>
          <a:p>
            <a:pPr algn="l"/>
            <a:r>
              <a:rPr sz="1500" b="1">
                <a:solidFill>
                  <a:srgbClr val="0A9396"/>
                </a:solidFill>
              </a:rPr>
              <a:t>Local learning</a:t>
            </a:r>
          </a:p>
        </p:txBody>
      </p:sp>
      <p:sp>
        <p:nvSpPr>
          <p:cNvPr id="14" name="Oval 13"/>
          <p:cNvSpPr/>
          <p:nvPr/>
        </p:nvSpPr>
        <p:spPr>
          <a:xfrm>
            <a:off x="3097320" y="2435688"/>
            <a:ext cx="380000" cy="38000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rPr>
              <a:t>2</a:t>
            </a:r>
          </a:p>
        </p:txBody>
      </p:sp>
      <p:cxnSp>
        <p:nvCxnSpPr>
          <p:cNvPr id="15" name="Connector 14"/>
          <p:cNvCxnSpPr/>
          <p:nvPr/>
        </p:nvCxnSpPr>
        <p:spPr>
          <a:xfrm>
            <a:off x="4921440" y="3290688"/>
            <a:ext cx="200000" cy="0"/>
          </a:xfrm>
          <a:prstGeom prst="line">
            <a:avLst/>
          </a:prstGeom>
          <a:ln w="25400">
            <a:solidFill>
              <a:srgbClr val="5B67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136440" y="2340688"/>
            <a:ext cx="1919120" cy="1900000"/>
          </a:xfrm>
          <a:prstGeom prst="roundRect">
            <a:avLst>
              <a:gd name="adj" fmla="val 6000"/>
            </a:avLst>
          </a:prstGeom>
          <a:solidFill>
            <a:srgbClr val="FBF0D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50000" rIns="150000" tIns="120000"/>
          <a:lstStyle/>
          <a:p>
            <a:pPr algn="l"/>
            <a:r>
              <a:rPr sz="1500" b="1">
                <a:solidFill>
                  <a:srgbClr val="C98A0B"/>
                </a:solidFill>
              </a:rPr>
              <a:t> </a:t>
            </a:r>
          </a:p>
          <a:p>
            <a:pPr algn="l">
              <a:spcBef>
                <a:spcPts val="500"/>
              </a:spcBef>
            </a:pPr>
            <a:r>
              <a:rPr sz="1400" b="0">
                <a:solidFill>
                  <a:srgbClr val="1B1B1B"/>
                </a:solidFill>
              </a:rPr>
              <a:t>checks every update, drops bad ones, combines the rest</a:t>
            </a:r>
          </a:p>
        </p:txBody>
      </p:sp>
      <p:sp>
        <p:nvSpPr>
          <p:cNvPr id="17" name="TextBox 16"/>
          <p:cNvSpPr txBox="1"/>
          <p:nvPr/>
        </p:nvSpPr>
        <p:spPr>
          <a:xfrm>
            <a:off x="5716440" y="2410688"/>
            <a:ext cx="1239120" cy="450000"/>
          </a:xfrm>
          <a:prstGeom prst="rect">
            <a:avLst/>
          </a:prstGeom>
          <a:noFill/>
        </p:spPr>
        <p:txBody>
          <a:bodyPr wrap="square" anchor="ctr" lIns="0" rIns="0">
            <a:spAutoFit/>
          </a:bodyPr>
          <a:lstStyle/>
          <a:p>
            <a:pPr algn="l"/>
            <a:r>
              <a:rPr sz="1500" b="1">
                <a:solidFill>
                  <a:srgbClr val="C98A0B"/>
                </a:solidFill>
              </a:rPr>
              <a:t>Server</a:t>
            </a:r>
          </a:p>
        </p:txBody>
      </p:sp>
      <p:sp>
        <p:nvSpPr>
          <p:cNvPr id="18" name="Oval 17"/>
          <p:cNvSpPr/>
          <p:nvPr/>
        </p:nvSpPr>
        <p:spPr>
          <a:xfrm>
            <a:off x="5246440" y="2435688"/>
            <a:ext cx="380000" cy="380000"/>
          </a:xfrm>
          <a:prstGeom prst="ellipse">
            <a:avLst/>
          </a:prstGeom>
          <a:solidFill>
            <a:srgbClr val="C98A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rPr>
              <a:t>3</a:t>
            </a:r>
          </a:p>
        </p:txBody>
      </p:sp>
      <p:cxnSp>
        <p:nvCxnSpPr>
          <p:cNvPr id="19" name="Connector 18"/>
          <p:cNvCxnSpPr/>
          <p:nvPr/>
        </p:nvCxnSpPr>
        <p:spPr>
          <a:xfrm>
            <a:off x="7070560" y="3290688"/>
            <a:ext cx="200000" cy="0"/>
          </a:xfrm>
          <a:prstGeom prst="line">
            <a:avLst/>
          </a:prstGeom>
          <a:ln w="25400">
            <a:solidFill>
              <a:srgbClr val="5B67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285560" y="2340688"/>
            <a:ext cx="1919120" cy="1900000"/>
          </a:xfrm>
          <a:prstGeom prst="roundRect">
            <a:avLst>
              <a:gd name="adj" fmla="val 6000"/>
            </a:avLst>
          </a:prstGeom>
          <a:solidFill>
            <a:srgbClr val="E3E7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50000" rIns="150000" tIns="120000"/>
          <a:lstStyle/>
          <a:p>
            <a:pPr algn="l"/>
            <a:r>
              <a:rPr sz="1500" b="1">
                <a:solidFill>
                  <a:srgbClr val="1E2761"/>
                </a:solidFill>
              </a:rPr>
              <a:t> </a:t>
            </a:r>
          </a:p>
          <a:p>
            <a:pPr algn="l">
              <a:spcBef>
                <a:spcPts val="500"/>
              </a:spcBef>
            </a:pPr>
            <a:r>
              <a:rPr sz="1400" b="0">
                <a:solidFill>
                  <a:srgbClr val="1B1B1B"/>
                </a:solidFill>
              </a:rPr>
              <a:t>trained classifier + anomaly detector</a:t>
            </a:r>
          </a:p>
        </p:txBody>
      </p:sp>
      <p:sp>
        <p:nvSpPr>
          <p:cNvPr id="21" name="TextBox 20"/>
          <p:cNvSpPr txBox="1"/>
          <p:nvPr/>
        </p:nvSpPr>
        <p:spPr>
          <a:xfrm>
            <a:off x="7865560" y="2410688"/>
            <a:ext cx="1239120" cy="450000"/>
          </a:xfrm>
          <a:prstGeom prst="rect">
            <a:avLst/>
          </a:prstGeom>
          <a:noFill/>
        </p:spPr>
        <p:txBody>
          <a:bodyPr wrap="square" anchor="ctr" lIns="0" rIns="0">
            <a:spAutoFit/>
          </a:bodyPr>
          <a:lstStyle/>
          <a:p>
            <a:pPr algn="l"/>
            <a:r>
              <a:rPr sz="1500" b="1">
                <a:solidFill>
                  <a:srgbClr val="1E2761"/>
                </a:solidFill>
              </a:rPr>
              <a:t>Detector</a:t>
            </a:r>
          </a:p>
        </p:txBody>
      </p:sp>
      <p:sp>
        <p:nvSpPr>
          <p:cNvPr id="22" name="Oval 21"/>
          <p:cNvSpPr/>
          <p:nvPr/>
        </p:nvSpPr>
        <p:spPr>
          <a:xfrm>
            <a:off x="7395560" y="2435688"/>
            <a:ext cx="380000" cy="38000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rPr>
              <a:t>4</a:t>
            </a:r>
          </a:p>
        </p:txBody>
      </p:sp>
      <p:cxnSp>
        <p:nvCxnSpPr>
          <p:cNvPr id="23" name="Connector 22"/>
          <p:cNvCxnSpPr/>
          <p:nvPr/>
        </p:nvCxnSpPr>
        <p:spPr>
          <a:xfrm>
            <a:off x="9219680" y="3290688"/>
            <a:ext cx="200000" cy="0"/>
          </a:xfrm>
          <a:prstGeom prst="line">
            <a:avLst/>
          </a:prstGeom>
          <a:ln w="25400">
            <a:solidFill>
              <a:srgbClr val="5B67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434680" y="2340688"/>
            <a:ext cx="1919120" cy="1900000"/>
          </a:xfrm>
          <a:prstGeom prst="roundRect">
            <a:avLst>
              <a:gd name="adj" fmla="val 6000"/>
            </a:avLst>
          </a:prstGeom>
          <a:solidFill>
            <a:srgbClr val="F9E1E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50000" rIns="150000" tIns="120000"/>
          <a:lstStyle/>
          <a:p>
            <a:pPr algn="l"/>
            <a:r>
              <a:rPr sz="1500" b="1">
                <a:solidFill>
                  <a:srgbClr val="D64550"/>
                </a:solidFill>
              </a:rPr>
              <a:t> </a:t>
            </a:r>
          </a:p>
          <a:p>
            <a:pPr algn="l">
              <a:spcBef>
                <a:spcPts val="500"/>
              </a:spcBef>
            </a:pPr>
            <a:r>
              <a:rPr sz="1400" b="0">
                <a:solidFill>
                  <a:srgbClr val="1B1B1B"/>
                </a:solidFill>
              </a:rPr>
              <a:t>live traffic checked; attacker blocked</a:t>
            </a:r>
          </a:p>
        </p:txBody>
      </p:sp>
      <p:sp>
        <p:nvSpPr>
          <p:cNvPr id="25" name="TextBox 24"/>
          <p:cNvSpPr txBox="1"/>
          <p:nvPr/>
        </p:nvSpPr>
        <p:spPr>
          <a:xfrm>
            <a:off x="10014680" y="2410688"/>
            <a:ext cx="1239120" cy="450000"/>
          </a:xfrm>
          <a:prstGeom prst="rect">
            <a:avLst/>
          </a:prstGeom>
          <a:noFill/>
        </p:spPr>
        <p:txBody>
          <a:bodyPr wrap="square" anchor="ctr" lIns="0" rIns="0">
            <a:spAutoFit/>
          </a:bodyPr>
          <a:lstStyle/>
          <a:p>
            <a:pPr algn="l"/>
            <a:r>
              <a:rPr sz="1500" b="1">
                <a:solidFill>
                  <a:srgbClr val="D64550"/>
                </a:solidFill>
              </a:rPr>
              <a:t>SDN switch</a:t>
            </a:r>
          </a:p>
        </p:txBody>
      </p:sp>
      <p:sp>
        <p:nvSpPr>
          <p:cNvPr id="26" name="Oval 25"/>
          <p:cNvSpPr/>
          <p:nvPr/>
        </p:nvSpPr>
        <p:spPr>
          <a:xfrm>
            <a:off x="9544680" y="2435688"/>
            <a:ext cx="380000" cy="380000"/>
          </a:xfrm>
          <a:prstGeom prst="ellipse">
            <a:avLst/>
          </a:prstGeom>
          <a:solidFill>
            <a:srgbClr val="D6455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rPr>
              <a:t>5</a:t>
            </a:r>
          </a:p>
        </p:txBody>
      </p:sp>
      <p:sp>
        <p:nvSpPr>
          <p:cNvPr id="27" name="TextBox 26"/>
          <p:cNvSpPr txBox="1"/>
          <p:nvPr/>
        </p:nvSpPr>
        <p:spPr>
          <a:xfrm>
            <a:off x="838200" y="1790688"/>
            <a:ext cx="8366480" cy="400000"/>
          </a:xfrm>
          <a:prstGeom prst="rect">
            <a:avLst/>
          </a:prstGeom>
          <a:noFill/>
        </p:spPr>
        <p:txBody>
          <a:bodyPr wrap="square" anchor="t" lIns="0" rIns="0">
            <a:spAutoFit/>
          </a:bodyPr>
          <a:lstStyle/>
          <a:p>
            <a:pPr algn="ctr"/>
            <a:r>
              <a:rPr sz="1500" b="1">
                <a:solidFill>
                  <a:srgbClr val="1E2761"/>
                </a:solidFill>
              </a:rPr>
              <a:t>Phase A: training (offline, federated)</a:t>
            </a:r>
          </a:p>
        </p:txBody>
      </p:sp>
      <p:sp>
        <p:nvSpPr>
          <p:cNvPr id="28" name="TextBox 27"/>
          <p:cNvSpPr txBox="1"/>
          <p:nvPr/>
        </p:nvSpPr>
        <p:spPr>
          <a:xfrm>
            <a:off x="7285560" y="1790688"/>
            <a:ext cx="4068240" cy="400000"/>
          </a:xfrm>
          <a:prstGeom prst="rect">
            <a:avLst/>
          </a:prstGeom>
          <a:noFill/>
        </p:spPr>
        <p:txBody>
          <a:bodyPr wrap="square" anchor="t" lIns="0" rIns="0">
            <a:spAutoFit/>
          </a:bodyPr>
          <a:lstStyle/>
          <a:p>
            <a:pPr algn="ctr"/>
            <a:r>
              <a:rPr sz="1500" b="1">
                <a:solidFill>
                  <a:srgbClr val="D64550"/>
                </a:solidFill>
              </a:rPr>
              <a:t>Phase B: protection (live)</a:t>
            </a:r>
          </a:p>
        </p:txBody>
      </p:sp>
      <p:sp>
        <p:nvSpPr>
          <p:cNvPr id="29" name="TextBox 28"/>
          <p:cNvSpPr txBox="1"/>
          <p:nvPr/>
        </p:nvSpPr>
        <p:spPr>
          <a:xfrm>
            <a:off x="838200" y="4490688"/>
            <a:ext cx="10515600" cy="900000"/>
          </a:xfrm>
          <a:prstGeom prst="rect">
            <a:avLst/>
          </a:prstGeom>
          <a:noFill/>
        </p:spPr>
        <p:txBody>
          <a:bodyPr wrap="square" anchor="t" lIns="0" rIns="0">
            <a:spAutoFit/>
          </a:bodyPr>
          <a:lstStyle/>
          <a:p>
            <a:pPr algn="l"/>
            <a:r>
              <a:rPr sz="1500" b="0">
                <a:solidFill>
                  <a:srgbClr val="5B6770"/>
                </a:solidFill>
              </a:rPr>
              <a:t>Raw traffic never leaves a site: only model updates travel to the server. Phase A produces a saved model bundle; Phase B loads it on an emulated network (Mininet + Open vSwitch).</a:t>
            </a:r>
          </a:p>
        </p:txBody>
      </p:sp>
    </p:spTree>
    <p:extLst>
      <p:ext uri="{BB962C8B-B14F-4D97-AF65-F5344CB8AC3E}">
        <p14:creationId xmlns:p14="http://schemas.microsoft.com/office/powerpoint/2010/main" val="37438358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Detailed Design: Two Checks per Packet</a:t>
            </a:r>
          </a:p>
        </p:txBody>
      </p:sp>
      <p:sp>
        <p:nvSpPr>
          <p:cNvPr id="4" name="Footer Placeholder 3"/>
          <p:cNvSpPr>
            <a:spLocks noGrp="1"/>
          </p:cNvSpPr>
          <p:nvPr>
            <p:ph type="ftr" sz="quarter" idx="11"/>
          </p:nvPr>
        </p:nvSpPr>
        <p:spPr/>
        <p:txBody>
          <a:bodyPr/>
          <a:lstStyle/>
          <a:p>
            <a:r>
              <a:rPr lang="en-IN"/>
              <a:t>FL-IDS                         Department of CSE, BMSCE</a:t>
            </a:r>
          </a:p>
        </p:txBody>
      </p:sp>
      <p:sp>
        <p:nvSpPr>
          <p:cNvPr id="5" name="Slide Number Placeholder 4"/>
          <p:cNvSpPr>
            <a:spLocks noGrp="1"/>
          </p:cNvSpPr>
          <p:nvPr>
            <p:ph type="sldNum" sz="quarter" idx="12"/>
          </p:nvPr>
        </p:nvSpPr>
        <p:spPr/>
        <p:txBody>
          <a:bodyPr/>
          <a:lstStyle/>
          <a:p>
            <a:fld id="{840E0BF8-4B7D-46FA-B28A-DDF089F57DAF}" type="slidenum">
              <a:rPr lang="en-IN" smtClean="0"/>
              <a:t>8</a:t>
            </a:fld>
            <a:endParaRPr lang="en-IN"/>
          </a:p>
        </p:txBody>
      </p:sp>
      <p:pic>
        <p:nvPicPr>
          <p:cNvPr id="6"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028362" y="19050"/>
            <a:ext cx="1163638"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Date Placeholder 6"/>
          <p:cNvSpPr>
            <a:spLocks noGrp="1"/>
          </p:cNvSpPr>
          <p:nvPr>
            <p:ph type="dt" sz="half" idx="10"/>
          </p:nvPr>
        </p:nvSpPr>
        <p:spPr/>
        <p:txBody>
          <a:bodyPr/>
          <a:lstStyle/>
          <a:p>
            <a:r>
              <a:rPr lang="en-IN"/>
              <a:t>16-10-2026</a:t>
            </a:r>
          </a:p>
        </p:txBody>
      </p:sp>
      <p:sp>
        <p:nvSpPr>
          <p:cNvPr id="8" name="Rounded Rectangle 7"/>
          <p:cNvSpPr/>
          <p:nvPr/>
        </p:nvSpPr>
        <p:spPr>
          <a:xfrm>
            <a:off x="838200" y="3190688"/>
            <a:ext cx="2300000" cy="115000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50000" rIns="150000" tIns="120000"/>
          <a:lstStyle/>
          <a:p>
            <a:pPr algn="l"/>
            <a:r>
              <a:rPr sz="1600" b="1">
                <a:solidFill>
                  <a:srgbClr val="5B6770"/>
                </a:solidFill>
              </a:rPr>
              <a:t>Network traffic</a:t>
            </a:r>
          </a:p>
          <a:p>
            <a:pPr algn="l">
              <a:spcBef>
                <a:spcPts val="500"/>
              </a:spcBef>
            </a:pPr>
            <a:r>
              <a:rPr sz="1300" b="0">
                <a:solidFill>
                  <a:srgbClr val="1B1B1B"/>
                </a:solidFill>
              </a:rPr>
              <a:t>packets + connection features</a:t>
            </a:r>
          </a:p>
        </p:txBody>
      </p:sp>
      <p:sp>
        <p:nvSpPr>
          <p:cNvPr id="9" name="Rounded Rectangle 8"/>
          <p:cNvSpPr/>
          <p:nvPr/>
        </p:nvSpPr>
        <p:spPr>
          <a:xfrm>
            <a:off x="4138200" y="1990688"/>
            <a:ext cx="2650000" cy="1300000"/>
          </a:xfrm>
          <a:prstGeom prst="roundRect">
            <a:avLst>
              <a:gd name="adj" fmla="val 6000"/>
            </a:avLst>
          </a:prstGeom>
          <a:solidFill>
            <a:srgbClr val="E3E7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50000" rIns="150000" tIns="120000"/>
          <a:lstStyle/>
          <a:p>
            <a:pPr algn="l"/>
            <a:r>
              <a:rPr sz="1600" b="1">
                <a:solidFill>
                  <a:srgbClr val="1E2761"/>
                </a:solidFill>
              </a:rPr>
              <a:t>Check 1: Known attack?</a:t>
            </a:r>
          </a:p>
          <a:p>
            <a:pPr algn="l">
              <a:spcBef>
                <a:spcPts val="500"/>
              </a:spcBef>
            </a:pPr>
            <a:r>
              <a:rPr sz="1300" b="0">
                <a:solidFill>
                  <a:srgbClr val="1B1B1B"/>
                </a:solidFill>
              </a:rPr>
              <a:t>LightGBM classifier names the attack type</a:t>
            </a:r>
          </a:p>
        </p:txBody>
      </p:sp>
      <p:sp>
        <p:nvSpPr>
          <p:cNvPr id="10" name="Rounded Rectangle 9"/>
          <p:cNvSpPr/>
          <p:nvPr/>
        </p:nvSpPr>
        <p:spPr>
          <a:xfrm>
            <a:off x="8138200" y="1990688"/>
            <a:ext cx="3215600" cy="1150000"/>
          </a:xfrm>
          <a:prstGeom prst="roundRect">
            <a:avLst>
              <a:gd name="adj" fmla="val 6000"/>
            </a:avLst>
          </a:prstGeom>
          <a:solidFill>
            <a:srgbClr val="F9E1E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50000" rIns="150000" tIns="120000"/>
          <a:lstStyle/>
          <a:p>
            <a:pPr algn="l"/>
            <a:r>
              <a:rPr sz="1600" b="1">
                <a:solidFill>
                  <a:srgbClr val="D64550"/>
                </a:solidFill>
              </a:rPr>
              <a:t>Attack type</a:t>
            </a:r>
          </a:p>
          <a:p>
            <a:pPr algn="l">
              <a:spcBef>
                <a:spcPts val="500"/>
              </a:spcBef>
            </a:pPr>
            <a:r>
              <a:rPr sz="1300" b="0">
                <a:solidFill>
                  <a:srgbClr val="1B1B1B"/>
                </a:solidFill>
              </a:rPr>
              <a:t>e.g. “SQL injection” (≥ 70% sure)</a:t>
            </a:r>
          </a:p>
        </p:txBody>
      </p:sp>
      <p:sp>
        <p:nvSpPr>
          <p:cNvPr id="11" name="Rounded Rectangle 10"/>
          <p:cNvSpPr/>
          <p:nvPr/>
        </p:nvSpPr>
        <p:spPr>
          <a:xfrm>
            <a:off x="4138200" y="4540688"/>
            <a:ext cx="2650000" cy="1300000"/>
          </a:xfrm>
          <a:prstGeom prst="roundRect">
            <a:avLst>
              <a:gd name="adj" fmla="val 6000"/>
            </a:avLst>
          </a:prstGeom>
          <a:solidFill>
            <a:srgbClr val="DDF1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50000" rIns="150000" tIns="120000"/>
          <a:lstStyle/>
          <a:p>
            <a:pPr algn="l"/>
            <a:r>
              <a:rPr sz="1600" b="1">
                <a:solidFill>
                  <a:srgbClr val="0A9396"/>
                </a:solidFill>
              </a:rPr>
              <a:t>Check 2: Looks normal?</a:t>
            </a:r>
          </a:p>
          <a:p>
            <a:pPr algn="l">
              <a:spcBef>
                <a:spcPts val="500"/>
              </a:spcBef>
            </a:pPr>
            <a:r>
              <a:rPr sz="1300" b="0">
                <a:solidFill>
                  <a:srgbClr val="1B1B1B"/>
                </a:solidFill>
              </a:rPr>
              <a:t>autoencoder compares it to this site's normal traffic</a:t>
            </a:r>
          </a:p>
        </p:txBody>
      </p:sp>
      <p:sp>
        <p:nvSpPr>
          <p:cNvPr id="12" name="Rounded Rectangle 11"/>
          <p:cNvSpPr/>
          <p:nvPr/>
        </p:nvSpPr>
        <p:spPr>
          <a:xfrm>
            <a:off x="8138200" y="4190688"/>
            <a:ext cx="3215600" cy="950000"/>
          </a:xfrm>
          <a:prstGeom prst="roundRect">
            <a:avLst>
              <a:gd name="adj" fmla="val 6000"/>
            </a:avLst>
          </a:prstGeom>
          <a:solidFill>
            <a:srgbClr val="FBF0D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50000" rIns="150000" tIns="120000"/>
          <a:lstStyle/>
          <a:p>
            <a:pPr algn="l"/>
            <a:r>
              <a:rPr sz="1600" b="1">
                <a:solidFill>
                  <a:srgbClr val="C98A0B"/>
                </a:solidFill>
              </a:rPr>
              <a:t>Anomalous</a:t>
            </a:r>
          </a:p>
          <a:p>
            <a:pPr algn="l">
              <a:spcBef>
                <a:spcPts val="500"/>
              </a:spcBef>
            </a:pPr>
            <a:r>
              <a:rPr sz="1300" b="0">
                <a:solidFill>
                  <a:srgbClr val="1B1B1B"/>
                </a:solidFill>
              </a:rPr>
              <a:t>possible new (zero-day) attack</a:t>
            </a:r>
          </a:p>
        </p:txBody>
      </p:sp>
      <p:sp>
        <p:nvSpPr>
          <p:cNvPr id="13" name="Rounded Rectangle 12"/>
          <p:cNvSpPr/>
          <p:nvPr/>
        </p:nvSpPr>
        <p:spPr>
          <a:xfrm>
            <a:off x="8138200" y="5290688"/>
            <a:ext cx="3215600" cy="70000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50000" rIns="150000" tIns="120000"/>
          <a:lstStyle/>
          <a:p>
            <a:pPr algn="l"/>
            <a:r>
              <a:rPr sz="1600" b="1">
                <a:solidFill>
                  <a:srgbClr val="5B6770"/>
                </a:solidFill>
              </a:rPr>
              <a:t>Normal</a:t>
            </a:r>
          </a:p>
        </p:txBody>
      </p:sp>
      <p:cxnSp>
        <p:nvCxnSpPr>
          <p:cNvPr id="14" name="Connector 13"/>
          <p:cNvCxnSpPr/>
          <p:nvPr/>
        </p:nvCxnSpPr>
        <p:spPr>
          <a:xfrm flipV="1">
            <a:off x="3138200" y="2640688"/>
            <a:ext cx="1000000" cy="1125000"/>
          </a:xfrm>
          <a:prstGeom prst="line">
            <a:avLst/>
          </a:prstGeom>
          <a:ln w="25400">
            <a:solidFill>
              <a:srgbClr val="5B677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788200" y="2565688"/>
            <a:ext cx="1350000" cy="0"/>
          </a:xfrm>
          <a:prstGeom prst="line">
            <a:avLst/>
          </a:prstGeom>
          <a:ln w="25400">
            <a:solidFill>
              <a:srgbClr val="D6455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788200" y="1730688"/>
            <a:ext cx="1350000" cy="300000"/>
          </a:xfrm>
          <a:prstGeom prst="rect">
            <a:avLst/>
          </a:prstGeom>
          <a:noFill/>
        </p:spPr>
        <p:txBody>
          <a:bodyPr wrap="square" anchor="t" lIns="0" rIns="0">
            <a:spAutoFit/>
          </a:bodyPr>
          <a:lstStyle/>
          <a:p>
            <a:pPr algn="ctr"/>
            <a:r>
              <a:rPr sz="1200" b="0">
                <a:solidFill>
                  <a:srgbClr val="D64550"/>
                </a:solidFill>
              </a:rPr>
              <a:t>yes, sure</a:t>
            </a:r>
          </a:p>
        </p:txBody>
      </p:sp>
      <p:cxnSp>
        <p:nvCxnSpPr>
          <p:cNvPr id="17" name="Connector 16"/>
          <p:cNvCxnSpPr/>
          <p:nvPr/>
        </p:nvCxnSpPr>
        <p:spPr>
          <a:xfrm>
            <a:off x="5463200" y="3290688"/>
            <a:ext cx="0" cy="1250000"/>
          </a:xfrm>
          <a:prstGeom prst="line">
            <a:avLst/>
          </a:prstGeom>
          <a:ln w="25400">
            <a:solidFill>
              <a:srgbClr val="0A93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523200" y="3540688"/>
            <a:ext cx="1500000" cy="300000"/>
          </a:xfrm>
          <a:prstGeom prst="rect">
            <a:avLst/>
          </a:prstGeom>
          <a:noFill/>
        </p:spPr>
        <p:txBody>
          <a:bodyPr wrap="square" anchor="t" lIns="0" rIns="0">
            <a:spAutoFit/>
          </a:bodyPr>
          <a:lstStyle/>
          <a:p>
            <a:pPr algn="l"/>
            <a:r>
              <a:rPr sz="1200" b="0">
                <a:solidFill>
                  <a:srgbClr val="0A9396"/>
                </a:solidFill>
              </a:rPr>
              <a:t>no / unsure</a:t>
            </a:r>
          </a:p>
        </p:txBody>
      </p:sp>
      <p:cxnSp>
        <p:nvCxnSpPr>
          <p:cNvPr id="19" name="Connector 18"/>
          <p:cNvCxnSpPr/>
          <p:nvPr/>
        </p:nvCxnSpPr>
        <p:spPr>
          <a:xfrm flipV="1">
            <a:off x="6788200" y="4665688"/>
            <a:ext cx="1350000" cy="125000"/>
          </a:xfrm>
          <a:prstGeom prst="line">
            <a:avLst/>
          </a:prstGeom>
          <a:ln w="25400">
            <a:solidFill>
              <a:srgbClr val="C98A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788200" y="4310688"/>
            <a:ext cx="1350000" cy="300000"/>
          </a:xfrm>
          <a:prstGeom prst="rect">
            <a:avLst/>
          </a:prstGeom>
          <a:noFill/>
        </p:spPr>
        <p:txBody>
          <a:bodyPr wrap="square" anchor="t" lIns="0" rIns="0">
            <a:spAutoFit/>
          </a:bodyPr>
          <a:lstStyle/>
          <a:p>
            <a:pPr algn="ctr"/>
            <a:r>
              <a:rPr sz="1200" b="0">
                <a:solidFill>
                  <a:srgbClr val="C98A0B"/>
                </a:solidFill>
              </a:rPr>
              <a:t>too different</a:t>
            </a:r>
          </a:p>
        </p:txBody>
      </p:sp>
      <p:cxnSp>
        <p:nvCxnSpPr>
          <p:cNvPr id="21" name="Connector 20"/>
          <p:cNvCxnSpPr/>
          <p:nvPr/>
        </p:nvCxnSpPr>
        <p:spPr>
          <a:xfrm>
            <a:off x="6788200" y="5340688"/>
            <a:ext cx="1350000" cy="300000"/>
          </a:xfrm>
          <a:prstGeom prst="line">
            <a:avLst/>
          </a:prstGeom>
          <a:ln w="25400">
            <a:solidFill>
              <a:srgbClr val="5B67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788200" y="5540688"/>
            <a:ext cx="1350000" cy="300000"/>
          </a:xfrm>
          <a:prstGeom prst="rect">
            <a:avLst/>
          </a:prstGeom>
          <a:noFill/>
        </p:spPr>
        <p:txBody>
          <a:bodyPr wrap="square" anchor="t" lIns="0" rIns="0">
            <a:spAutoFit/>
          </a:bodyPr>
          <a:lstStyle/>
          <a:p>
            <a:pPr algn="ctr"/>
            <a:r>
              <a:rPr sz="1200" b="0">
                <a:solidFill>
                  <a:srgbClr val="5B6770"/>
                </a:solidFill>
              </a:rPr>
              <a:t>matches normal</a:t>
            </a:r>
          </a:p>
        </p:txBody>
      </p:sp>
    </p:spTree>
    <p:extLst>
      <p:ext uri="{BB962C8B-B14F-4D97-AF65-F5344CB8AC3E}">
        <p14:creationId xmlns:p14="http://schemas.microsoft.com/office/powerpoint/2010/main" val="37464025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Detailed Design: Training Safely Together</a:t>
            </a:r>
          </a:p>
        </p:txBody>
      </p:sp>
      <p:sp>
        <p:nvSpPr>
          <p:cNvPr id="4" name="Footer Placeholder 3"/>
          <p:cNvSpPr>
            <a:spLocks noGrp="1"/>
          </p:cNvSpPr>
          <p:nvPr>
            <p:ph type="ftr" sz="quarter" idx="11"/>
          </p:nvPr>
        </p:nvSpPr>
        <p:spPr/>
        <p:txBody>
          <a:bodyPr/>
          <a:lstStyle/>
          <a:p>
            <a:r>
              <a:rPr lang="en-IN"/>
              <a:t>FL-IDS                         Department of CSE, BMSCE</a:t>
            </a:r>
          </a:p>
        </p:txBody>
      </p:sp>
      <p:sp>
        <p:nvSpPr>
          <p:cNvPr id="5" name="Slide Number Placeholder 4"/>
          <p:cNvSpPr>
            <a:spLocks noGrp="1"/>
          </p:cNvSpPr>
          <p:nvPr>
            <p:ph type="sldNum" sz="quarter" idx="12"/>
          </p:nvPr>
        </p:nvSpPr>
        <p:spPr/>
        <p:txBody>
          <a:bodyPr/>
          <a:lstStyle/>
          <a:p>
            <a:fld id="{840E0BF8-4B7D-46FA-B28A-DDF089F57DAF}" type="slidenum">
              <a:rPr lang="en-IN" smtClean="0"/>
              <a:t>8</a:t>
            </a:fld>
            <a:endParaRPr lang="en-IN"/>
          </a:p>
        </p:txBody>
      </p:sp>
      <p:pic>
        <p:nvPicPr>
          <p:cNvPr id="6"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028362" y="19050"/>
            <a:ext cx="1163638"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Date Placeholder 6"/>
          <p:cNvSpPr>
            <a:spLocks noGrp="1"/>
          </p:cNvSpPr>
          <p:nvPr>
            <p:ph type="dt" sz="half" idx="10"/>
          </p:nvPr>
        </p:nvSpPr>
        <p:spPr/>
        <p:txBody>
          <a:bodyPr/>
          <a:lstStyle/>
          <a:p>
            <a:r>
              <a:rPr lang="en-IN"/>
              <a:t>16-10-2026</a:t>
            </a:r>
          </a:p>
        </p:txBody>
      </p:sp>
      <p:sp>
        <p:nvSpPr>
          <p:cNvPr id="8" name="Rounded Rectangle 7"/>
          <p:cNvSpPr/>
          <p:nvPr/>
        </p:nvSpPr>
        <p:spPr>
          <a:xfrm>
            <a:off x="838200" y="1740688"/>
            <a:ext cx="2463900" cy="1750000"/>
          </a:xfrm>
          <a:prstGeom prst="roundRect">
            <a:avLst>
              <a:gd name="adj" fmla="val 6000"/>
            </a:avLst>
          </a:prstGeom>
          <a:solidFill>
            <a:srgbClr val="FBF0D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50000" rIns="150000" tIns="120000"/>
          <a:lstStyle/>
          <a:p>
            <a:pPr algn="l"/>
            <a:r>
              <a:rPr sz="1600" b="1">
                <a:solidFill>
                  <a:srgbClr val="C98A0B"/>
                </a:solidFill>
              </a:rPr>
              <a:t> </a:t>
            </a:r>
          </a:p>
          <a:p>
            <a:pPr algn="l">
              <a:spcBef>
                <a:spcPts val="500"/>
              </a:spcBef>
            </a:pPr>
            <a:r>
              <a:rPr sz="1400" b="0">
                <a:solidFill>
                  <a:srgbClr val="1B1B1B"/>
                </a:solidFill>
              </a:rPr>
              <a:t>server sends the current detector to all 10 sites</a:t>
            </a:r>
          </a:p>
        </p:txBody>
      </p:sp>
      <p:sp>
        <p:nvSpPr>
          <p:cNvPr id="9" name="TextBox 8"/>
          <p:cNvSpPr txBox="1"/>
          <p:nvPr/>
        </p:nvSpPr>
        <p:spPr>
          <a:xfrm>
            <a:off x="1418200" y="1810688"/>
            <a:ext cx="1783900" cy="450000"/>
          </a:xfrm>
          <a:prstGeom prst="rect">
            <a:avLst/>
          </a:prstGeom>
          <a:noFill/>
        </p:spPr>
        <p:txBody>
          <a:bodyPr wrap="square" anchor="ctr" lIns="0" rIns="0">
            <a:spAutoFit/>
          </a:bodyPr>
          <a:lstStyle/>
          <a:p>
            <a:pPr algn="l"/>
            <a:r>
              <a:rPr sz="1600" b="1">
                <a:solidFill>
                  <a:srgbClr val="C98A0B"/>
                </a:solidFill>
              </a:rPr>
              <a:t>Send model</a:t>
            </a:r>
          </a:p>
        </p:txBody>
      </p:sp>
      <p:sp>
        <p:nvSpPr>
          <p:cNvPr id="10" name="Oval 9"/>
          <p:cNvSpPr/>
          <p:nvPr/>
        </p:nvSpPr>
        <p:spPr>
          <a:xfrm>
            <a:off x="948200" y="1835688"/>
            <a:ext cx="380000" cy="380000"/>
          </a:xfrm>
          <a:prstGeom prst="ellipse">
            <a:avLst/>
          </a:prstGeom>
          <a:solidFill>
            <a:srgbClr val="C98A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rPr>
              <a:t>1</a:t>
            </a:r>
          </a:p>
        </p:txBody>
      </p:sp>
      <p:cxnSp>
        <p:nvCxnSpPr>
          <p:cNvPr id="11" name="Connector 10"/>
          <p:cNvCxnSpPr/>
          <p:nvPr/>
        </p:nvCxnSpPr>
        <p:spPr>
          <a:xfrm>
            <a:off x="3312100" y="2615688"/>
            <a:ext cx="200000" cy="0"/>
          </a:xfrm>
          <a:prstGeom prst="line">
            <a:avLst/>
          </a:prstGeom>
          <a:ln w="25400">
            <a:solidFill>
              <a:srgbClr val="5B67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522100" y="1740688"/>
            <a:ext cx="2463900" cy="1750000"/>
          </a:xfrm>
          <a:prstGeom prst="roundRect">
            <a:avLst>
              <a:gd name="adj" fmla="val 6000"/>
            </a:avLst>
          </a:prstGeom>
          <a:solidFill>
            <a:srgbClr val="DDF1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50000" rIns="150000" tIns="120000"/>
          <a:lstStyle/>
          <a:p>
            <a:pPr algn="l"/>
            <a:r>
              <a:rPr sz="1600" b="1">
                <a:solidFill>
                  <a:srgbClr val="0A9396"/>
                </a:solidFill>
              </a:rPr>
              <a:t> </a:t>
            </a:r>
          </a:p>
          <a:p>
            <a:pPr algn="l">
              <a:spcBef>
                <a:spcPts val="500"/>
              </a:spcBef>
            </a:pPr>
            <a:r>
              <a:rPr sz="1400" b="0">
                <a:solidFill>
                  <a:srgbClr val="1B1B1B"/>
                </a:solidFill>
              </a:rPr>
              <a:t>each site trains on its own traffic, which never leaves</a:t>
            </a:r>
          </a:p>
        </p:txBody>
      </p:sp>
      <p:sp>
        <p:nvSpPr>
          <p:cNvPr id="13" name="TextBox 12"/>
          <p:cNvSpPr txBox="1"/>
          <p:nvPr/>
        </p:nvSpPr>
        <p:spPr>
          <a:xfrm>
            <a:off x="4102100" y="1810688"/>
            <a:ext cx="1783900" cy="450000"/>
          </a:xfrm>
          <a:prstGeom prst="rect">
            <a:avLst/>
          </a:prstGeom>
          <a:noFill/>
        </p:spPr>
        <p:txBody>
          <a:bodyPr wrap="square" anchor="ctr" lIns="0" rIns="0">
            <a:spAutoFit/>
          </a:bodyPr>
          <a:lstStyle/>
          <a:p>
            <a:pPr algn="l"/>
            <a:r>
              <a:rPr sz="1600" b="1">
                <a:solidFill>
                  <a:srgbClr val="0A9396"/>
                </a:solidFill>
              </a:rPr>
              <a:t>Learn locally</a:t>
            </a:r>
          </a:p>
        </p:txBody>
      </p:sp>
      <p:sp>
        <p:nvSpPr>
          <p:cNvPr id="14" name="Oval 13"/>
          <p:cNvSpPr/>
          <p:nvPr/>
        </p:nvSpPr>
        <p:spPr>
          <a:xfrm>
            <a:off x="3632100" y="1835688"/>
            <a:ext cx="380000" cy="38000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rPr>
              <a:t>2</a:t>
            </a:r>
          </a:p>
        </p:txBody>
      </p:sp>
      <p:cxnSp>
        <p:nvCxnSpPr>
          <p:cNvPr id="15" name="Connector 14"/>
          <p:cNvCxnSpPr/>
          <p:nvPr/>
        </p:nvCxnSpPr>
        <p:spPr>
          <a:xfrm>
            <a:off x="5996000" y="2615688"/>
            <a:ext cx="200000" cy="0"/>
          </a:xfrm>
          <a:prstGeom prst="line">
            <a:avLst/>
          </a:prstGeom>
          <a:ln w="25400">
            <a:solidFill>
              <a:srgbClr val="5B67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206000" y="1740688"/>
            <a:ext cx="2463900" cy="1750000"/>
          </a:xfrm>
          <a:prstGeom prst="roundRect">
            <a:avLst>
              <a:gd name="adj" fmla="val 6000"/>
            </a:avLst>
          </a:prstGeom>
          <a:solidFill>
            <a:srgbClr val="F9E1E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50000" rIns="150000" tIns="120000"/>
          <a:lstStyle/>
          <a:p>
            <a:pPr algn="l"/>
            <a:r>
              <a:rPr sz="1600" b="1">
                <a:solidFill>
                  <a:srgbClr val="D64550"/>
                </a:solidFill>
              </a:rPr>
              <a:t> </a:t>
            </a:r>
          </a:p>
          <a:p>
            <a:pPr algn="l">
              <a:spcBef>
                <a:spcPts val="500"/>
              </a:spcBef>
            </a:pPr>
            <a:r>
              <a:rPr sz="1400" b="0">
                <a:solidFill>
                  <a:srgbClr val="1B1B1B"/>
                </a:solidFill>
              </a:rPr>
              <a:t>server compares each site's change with the group's typical change</a:t>
            </a:r>
          </a:p>
        </p:txBody>
      </p:sp>
      <p:sp>
        <p:nvSpPr>
          <p:cNvPr id="17" name="TextBox 16"/>
          <p:cNvSpPr txBox="1"/>
          <p:nvPr/>
        </p:nvSpPr>
        <p:spPr>
          <a:xfrm>
            <a:off x="6786000" y="1810688"/>
            <a:ext cx="1783900" cy="450000"/>
          </a:xfrm>
          <a:prstGeom prst="rect">
            <a:avLst/>
          </a:prstGeom>
          <a:noFill/>
        </p:spPr>
        <p:txBody>
          <a:bodyPr wrap="square" anchor="ctr" lIns="0" rIns="0">
            <a:spAutoFit/>
          </a:bodyPr>
          <a:lstStyle/>
          <a:p>
            <a:pPr algn="l"/>
            <a:r>
              <a:rPr sz="1600" b="1">
                <a:solidFill>
                  <a:srgbClr val="D64550"/>
                </a:solidFill>
              </a:rPr>
              <a:t>Trust check</a:t>
            </a:r>
          </a:p>
        </p:txBody>
      </p:sp>
      <p:sp>
        <p:nvSpPr>
          <p:cNvPr id="18" name="Oval 17"/>
          <p:cNvSpPr/>
          <p:nvPr/>
        </p:nvSpPr>
        <p:spPr>
          <a:xfrm>
            <a:off x="6316000" y="1835688"/>
            <a:ext cx="380000" cy="380000"/>
          </a:xfrm>
          <a:prstGeom prst="ellipse">
            <a:avLst/>
          </a:prstGeom>
          <a:solidFill>
            <a:srgbClr val="D6455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rPr>
              <a:t>3</a:t>
            </a:r>
          </a:p>
        </p:txBody>
      </p:sp>
      <p:cxnSp>
        <p:nvCxnSpPr>
          <p:cNvPr id="19" name="Connector 18"/>
          <p:cNvCxnSpPr/>
          <p:nvPr/>
        </p:nvCxnSpPr>
        <p:spPr>
          <a:xfrm>
            <a:off x="8679900" y="2615688"/>
            <a:ext cx="200000" cy="0"/>
          </a:xfrm>
          <a:prstGeom prst="line">
            <a:avLst/>
          </a:prstGeom>
          <a:ln w="25400">
            <a:solidFill>
              <a:srgbClr val="5B67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889900" y="1740688"/>
            <a:ext cx="2463900" cy="1750000"/>
          </a:xfrm>
          <a:prstGeom prst="roundRect">
            <a:avLst>
              <a:gd name="adj" fmla="val 6000"/>
            </a:avLst>
          </a:prstGeom>
          <a:solidFill>
            <a:srgbClr val="E3E7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50000" rIns="150000" tIns="120000"/>
          <a:lstStyle/>
          <a:p>
            <a:pPr algn="l"/>
            <a:r>
              <a:rPr sz="1600" b="1">
                <a:solidFill>
                  <a:srgbClr val="1E2761"/>
                </a:solidFill>
              </a:rPr>
              <a:t> </a:t>
            </a:r>
          </a:p>
          <a:p>
            <a:pPr algn="l">
              <a:spcBef>
                <a:spcPts val="500"/>
              </a:spcBef>
            </a:pPr>
            <a:r>
              <a:rPr sz="1400" b="0">
                <a:solidFill>
                  <a:srgbClr val="1B1B1B"/>
                </a:solidFill>
              </a:rPr>
              <a:t>suspicious changes are dropped; the rest are averaged robustly</a:t>
            </a:r>
          </a:p>
        </p:txBody>
      </p:sp>
      <p:sp>
        <p:nvSpPr>
          <p:cNvPr id="21" name="TextBox 20"/>
          <p:cNvSpPr txBox="1"/>
          <p:nvPr/>
        </p:nvSpPr>
        <p:spPr>
          <a:xfrm>
            <a:off x="9469900" y="1810688"/>
            <a:ext cx="1783900" cy="450000"/>
          </a:xfrm>
          <a:prstGeom prst="rect">
            <a:avLst/>
          </a:prstGeom>
          <a:noFill/>
        </p:spPr>
        <p:txBody>
          <a:bodyPr wrap="square" anchor="ctr" lIns="0" rIns="0">
            <a:spAutoFit/>
          </a:bodyPr>
          <a:lstStyle/>
          <a:p>
            <a:pPr algn="l"/>
            <a:r>
              <a:rPr sz="1600" b="1">
                <a:solidFill>
                  <a:srgbClr val="1E2761"/>
                </a:solidFill>
              </a:rPr>
              <a:t>Combine</a:t>
            </a:r>
          </a:p>
        </p:txBody>
      </p:sp>
      <p:sp>
        <p:nvSpPr>
          <p:cNvPr id="22" name="Oval 21"/>
          <p:cNvSpPr/>
          <p:nvPr/>
        </p:nvSpPr>
        <p:spPr>
          <a:xfrm>
            <a:off x="8999900" y="1835688"/>
            <a:ext cx="380000" cy="38000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rPr>
              <a:t>4</a:t>
            </a:r>
          </a:p>
        </p:txBody>
      </p:sp>
      <p:sp>
        <p:nvSpPr>
          <p:cNvPr id="23" name="TextBox 22"/>
          <p:cNvSpPr txBox="1"/>
          <p:nvPr/>
        </p:nvSpPr>
        <p:spPr>
          <a:xfrm>
            <a:off x="838200" y="3540688"/>
            <a:ext cx="10515600" cy="300000"/>
          </a:xfrm>
          <a:prstGeom prst="rect">
            <a:avLst/>
          </a:prstGeom>
          <a:noFill/>
        </p:spPr>
        <p:txBody>
          <a:bodyPr wrap="square" anchor="t" lIns="0" rIns="0">
            <a:spAutoFit/>
          </a:bodyPr>
          <a:lstStyle/>
          <a:p>
            <a:pPr algn="ctr"/>
            <a:r>
              <a:rPr sz="1300" b="0">
                <a:solidFill>
                  <a:srgbClr val="5B6770"/>
                </a:solidFill>
              </a:rPr>
              <a:t>repeated for 20 rounds</a:t>
            </a:r>
          </a:p>
        </p:txBody>
      </p:sp>
      <p:sp>
        <p:nvSpPr>
          <p:cNvPr id="24" name="Rounded Rectangle 23"/>
          <p:cNvSpPr/>
          <p:nvPr/>
        </p:nvSpPr>
        <p:spPr>
          <a:xfrm>
            <a:off x="838200" y="3990688"/>
            <a:ext cx="10515600" cy="160000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50000" rIns="150000" tIns="120000"/>
          <a:lstStyle/>
          <a:p>
            <a:pPr algn="l"/>
            <a:r>
              <a:rPr sz="1700" b="1">
                <a:solidFill>
                  <a:srgbClr val="1E2761"/>
                </a:solidFill>
              </a:rPr>
              <a:t>The trust check in one line</a:t>
            </a:r>
          </a:p>
          <a:p>
            <a:pPr algn="l">
              <a:spcBef>
                <a:spcPts val="500"/>
              </a:spcBef>
            </a:pPr>
            <a:r>
              <a:rPr sz="1600" b="0">
                <a:solidFill>
                  <a:srgbClr val="1B1B1B"/>
                </a:solidFill>
              </a:rPr>
              <a:t>Like a teacher comparing homework: if one student's answer points the opposite way to the class's typical answer, or keeps disagreeing round after round, it is set aside. Large answers are also capped so one student can't dominate.</a:t>
            </a:r>
          </a:p>
        </p:txBody>
      </p:sp>
    </p:spTree>
    <p:extLst>
      <p:ext uri="{BB962C8B-B14F-4D97-AF65-F5344CB8AC3E}">
        <p14:creationId xmlns:p14="http://schemas.microsoft.com/office/powerpoint/2010/main" val="37464025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Implementation</a:t>
            </a:r>
          </a:p>
        </p:txBody>
      </p:sp>
      <p:sp>
        <p:nvSpPr>
          <p:cNvPr id="4" name="Footer Placeholder 3"/>
          <p:cNvSpPr>
            <a:spLocks noGrp="1"/>
          </p:cNvSpPr>
          <p:nvPr>
            <p:ph type="ftr" sz="quarter" idx="11"/>
          </p:nvPr>
        </p:nvSpPr>
        <p:spPr/>
        <p:txBody>
          <a:bodyPr/>
          <a:lstStyle/>
          <a:p>
            <a:r>
              <a:rPr lang="en-IN"/>
              <a:t>FL-IDS                         Department of CSE, BMSCE</a:t>
            </a:r>
          </a:p>
        </p:txBody>
      </p:sp>
      <p:sp>
        <p:nvSpPr>
          <p:cNvPr id="5" name="Slide Number Placeholder 4"/>
          <p:cNvSpPr>
            <a:spLocks noGrp="1"/>
          </p:cNvSpPr>
          <p:nvPr>
            <p:ph type="sldNum" sz="quarter" idx="12"/>
          </p:nvPr>
        </p:nvSpPr>
        <p:spPr/>
        <p:txBody>
          <a:bodyPr/>
          <a:lstStyle/>
          <a:p>
            <a:fld id="{840E0BF8-4B7D-46FA-B28A-DDF089F57DAF}" type="slidenum">
              <a:rPr lang="en-IN" smtClean="0"/>
              <a:t>9</a:t>
            </a:fld>
            <a:endParaRPr lang="en-IN"/>
          </a:p>
        </p:txBody>
      </p:sp>
      <p:pic>
        <p:nvPicPr>
          <p:cNvPr id="6"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028362" y="19050"/>
            <a:ext cx="1163638"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Date Placeholder 6"/>
          <p:cNvSpPr>
            <a:spLocks noGrp="1"/>
          </p:cNvSpPr>
          <p:nvPr>
            <p:ph type="dt" sz="half" idx="10"/>
          </p:nvPr>
        </p:nvSpPr>
        <p:spPr/>
        <p:txBody>
          <a:bodyPr/>
          <a:lstStyle/>
          <a:p>
            <a:r>
              <a:rPr lang="en-IN"/>
              <a:t>16-10-2026</a:t>
            </a:r>
          </a:p>
        </p:txBody>
      </p:sp>
      <p:graphicFrame>
        <p:nvGraphicFramePr>
          <p:cNvPr id="8" name="Table 7"/>
          <p:cNvGraphicFramePr>
            <a:graphicFrameLocks noGrp="1"/>
          </p:cNvGraphicFramePr>
          <p:nvPr/>
        </p:nvGraphicFramePr>
        <p:xfrm>
          <a:off x="838200" y="1740688"/>
          <a:ext cx="10515600" cy="3780000"/>
        </p:xfrm>
        <a:graphic>
          <a:graphicData uri="http://schemas.openxmlformats.org/drawingml/2006/table">
            <a:tbl>
              <a:tblPr firstRow="1" bandRow="1">
                <a:tableStyleId>{5C22544A-7EE6-4342-B048-85BDC9FD1C3A}</a:tableStyleId>
              </a:tblPr>
              <a:tblGrid>
                <a:gridCol w="3100000"/>
                <a:gridCol w="7415600"/>
              </a:tblGrid>
              <a:tr h="420000">
                <a:tc>
                  <a:txBody>
                    <a:bodyPr/>
                    <a:lstStyle/>
                    <a:p>
                      <a:pPr algn="l"/>
                      <a:r>
                        <a:rPr sz="1500" b="1">
                          <a:solidFill>
                            <a:srgbClr val="FFFFFF"/>
                          </a:solidFill>
                        </a:rPr>
                        <a:t>Part</a:t>
                      </a:r>
                    </a:p>
                  </a:txBody>
                  <a:tcPr marT="30000" marB="30000">
                    <a:solidFill>
                      <a:srgbClr val="1E2761"/>
                    </a:solidFill>
                  </a:tcPr>
                </a:tc>
                <a:tc>
                  <a:txBody>
                    <a:bodyPr/>
                    <a:lstStyle/>
                    <a:p>
                      <a:pPr algn="l"/>
                      <a:r>
                        <a:rPr sz="1500" b="1">
                          <a:solidFill>
                            <a:srgbClr val="FFFFFF"/>
                          </a:solidFill>
                        </a:rPr>
                        <a:t>Built with</a:t>
                      </a:r>
                    </a:p>
                  </a:txBody>
                  <a:tcPr marT="30000" marB="30000">
                    <a:solidFill>
                      <a:srgbClr val="1E2761"/>
                    </a:solidFill>
                  </a:tcPr>
                </a:tc>
              </a:tr>
              <a:tr h="420000">
                <a:tc>
                  <a:txBody>
                    <a:bodyPr/>
                    <a:lstStyle/>
                    <a:p>
                      <a:pPr algn="l"/>
                      <a:r>
                        <a:rPr sz="1500" b="0">
                          <a:solidFill>
                            <a:srgbClr val="1B1B1B"/>
                          </a:solidFill>
                        </a:rPr>
                        <a:t>Data preparation</a:t>
                      </a:r>
                    </a:p>
                  </a:txBody>
                  <a:tcPr marT="30000" marB="30000">
                    <a:solidFill>
                      <a:srgbClr val="FFFFFF"/>
                    </a:solidFill>
                  </a:tcPr>
                </a:tc>
                <a:tc>
                  <a:txBody>
                    <a:bodyPr/>
                    <a:lstStyle/>
                    <a:p>
                      <a:pPr algn="l"/>
                      <a:r>
                        <a:rPr sz="1500" b="0">
                          <a:solidFill>
                            <a:srgbClr val="1B1B1B"/>
                          </a:solidFill>
                        </a:rPr>
                        <a:t>Python, pandas: cleaning, dataset repairs, new features</a:t>
                      </a:r>
                    </a:p>
                  </a:txBody>
                  <a:tcPr marT="30000" marB="30000">
                    <a:solidFill>
                      <a:srgbClr val="FFFFFF"/>
                    </a:solidFill>
                  </a:tcPr>
                </a:tc>
              </a:tr>
              <a:tr h="420000">
                <a:tc>
                  <a:txBody>
                    <a:bodyPr/>
                    <a:lstStyle/>
                    <a:p>
                      <a:pPr algn="l"/>
                      <a:r>
                        <a:rPr sz="1500" b="0">
                          <a:solidFill>
                            <a:srgbClr val="1B1B1B"/>
                          </a:solidFill>
                        </a:rPr>
                        <a:t>Check 1: classifier</a:t>
                      </a:r>
                    </a:p>
                  </a:txBody>
                  <a:tcPr marT="30000" marB="30000">
                    <a:solidFill>
                      <a:srgbClr val="F1F2F4"/>
                    </a:solidFill>
                  </a:tcPr>
                </a:tc>
                <a:tc>
                  <a:txBody>
                    <a:bodyPr/>
                    <a:lstStyle/>
                    <a:p>
                      <a:pPr algn="l"/>
                      <a:r>
                        <a:rPr sz="1500" b="0">
                          <a:solidFill>
                            <a:srgbClr val="1B1B1B"/>
                          </a:solidFill>
                        </a:rPr>
                        <a:t>LightGBM (gradient-boosted trees)</a:t>
                      </a:r>
                    </a:p>
                  </a:txBody>
                  <a:tcPr marT="30000" marB="30000">
                    <a:solidFill>
                      <a:srgbClr val="F1F2F4"/>
                    </a:solidFill>
                  </a:tcPr>
                </a:tc>
              </a:tr>
              <a:tr h="420000">
                <a:tc>
                  <a:txBody>
                    <a:bodyPr/>
                    <a:lstStyle/>
                    <a:p>
                      <a:pPr algn="l"/>
                      <a:r>
                        <a:rPr sz="1500" b="0">
                          <a:solidFill>
                            <a:srgbClr val="1B1B1B"/>
                          </a:solidFill>
                        </a:rPr>
                        <a:t>Check 2: anomaly detector</a:t>
                      </a:r>
                    </a:p>
                  </a:txBody>
                  <a:tcPr marT="30000" marB="30000">
                    <a:solidFill>
                      <a:srgbClr val="FFFFFF"/>
                    </a:solidFill>
                  </a:tcPr>
                </a:tc>
                <a:tc>
                  <a:txBody>
                    <a:bodyPr/>
                    <a:lstStyle/>
                    <a:p>
                      <a:pPr algn="l"/>
                      <a:r>
                        <a:rPr sz="1500" b="0">
                          <a:solidFill>
                            <a:srgbClr val="1B1B1B"/>
                          </a:solidFill>
                        </a:rPr>
                        <a:t>PyTorch autoencoder, one per site</a:t>
                      </a:r>
                    </a:p>
                  </a:txBody>
                  <a:tcPr marT="30000" marB="30000">
                    <a:solidFill>
                      <a:srgbClr val="FFFFFF"/>
                    </a:solidFill>
                  </a:tcPr>
                </a:tc>
              </a:tr>
              <a:tr h="420000">
                <a:tc>
                  <a:txBody>
                    <a:bodyPr/>
                    <a:lstStyle/>
                    <a:p>
                      <a:pPr algn="l"/>
                      <a:r>
                        <a:rPr sz="1500" b="0">
                          <a:solidFill>
                            <a:srgbClr val="1B1B1B"/>
                          </a:solidFill>
                        </a:rPr>
                        <a:t>Federated training</a:t>
                      </a:r>
                    </a:p>
                  </a:txBody>
                  <a:tcPr marT="30000" marB="30000">
                    <a:solidFill>
                      <a:srgbClr val="F1F2F4"/>
                    </a:solidFill>
                  </a:tcPr>
                </a:tc>
                <a:tc>
                  <a:txBody>
                    <a:bodyPr/>
                    <a:lstStyle/>
                    <a:p>
                      <a:pPr algn="l"/>
                      <a:r>
                        <a:rPr sz="1500" b="0">
                          <a:solidFill>
                            <a:srgbClr val="1B1B1B"/>
                          </a:solidFill>
                        </a:rPr>
                        <a:t>Flower: 1 server + 10 real client processes</a:t>
                      </a:r>
                    </a:p>
                  </a:txBody>
                  <a:tcPr marT="30000" marB="30000">
                    <a:solidFill>
                      <a:srgbClr val="F1F2F4"/>
                    </a:solidFill>
                  </a:tcPr>
                </a:tc>
              </a:tr>
              <a:tr h="420000">
                <a:tc>
                  <a:txBody>
                    <a:bodyPr/>
                    <a:lstStyle/>
                    <a:p>
                      <a:pPr algn="l"/>
                      <a:r>
                        <a:rPr sz="1500" b="0">
                          <a:solidFill>
                            <a:srgbClr val="1B1B1B"/>
                          </a:solidFill>
                        </a:rPr>
                        <a:t>Network + blocking</a:t>
                      </a:r>
                    </a:p>
                  </a:txBody>
                  <a:tcPr marT="30000" marB="30000">
                    <a:solidFill>
                      <a:srgbClr val="FFFFFF"/>
                    </a:solidFill>
                  </a:tcPr>
                </a:tc>
                <a:tc>
                  <a:txBody>
                    <a:bodyPr/>
                    <a:lstStyle/>
                    <a:p>
                      <a:pPr algn="l"/>
                      <a:r>
                        <a:rPr sz="1500" b="0">
                          <a:solidFill>
                            <a:srgbClr val="1B1B1B"/>
                          </a:solidFill>
                        </a:rPr>
                        <a:t>Mininet, Open vSwitch, os-ken OpenFlow controller</a:t>
                      </a:r>
                    </a:p>
                  </a:txBody>
                  <a:tcPr marT="30000" marB="30000">
                    <a:solidFill>
                      <a:srgbClr val="FFFFFF"/>
                    </a:solidFill>
                  </a:tcPr>
                </a:tc>
              </a:tr>
              <a:tr h="420000">
                <a:tc>
                  <a:txBody>
                    <a:bodyPr/>
                    <a:lstStyle/>
                    <a:p>
                      <a:pPr algn="l"/>
                      <a:r>
                        <a:rPr sz="1500" b="0">
                          <a:solidFill>
                            <a:srgbClr val="1B1B1B"/>
                          </a:solidFill>
                        </a:rPr>
                        <a:t>Live traffic features</a:t>
                      </a:r>
                    </a:p>
                  </a:txBody>
                  <a:tcPr marT="30000" marB="30000">
                    <a:solidFill>
                      <a:srgbClr val="F1F2F4"/>
                    </a:solidFill>
                  </a:tcPr>
                </a:tc>
                <a:tc>
                  <a:txBody>
                    <a:bodyPr/>
                    <a:lstStyle/>
                    <a:p>
                      <a:pPr algn="l"/>
                      <a:r>
                        <a:rPr sz="1500" b="0">
                          <a:solidFill>
                            <a:srgbClr val="1B1B1B"/>
                          </a:solidFill>
                        </a:rPr>
                        <a:t>TShark + tcpreplay (replays real attack captures)</a:t>
                      </a:r>
                    </a:p>
                  </a:txBody>
                  <a:tcPr marT="30000" marB="30000">
                    <a:solidFill>
                      <a:srgbClr val="F1F2F4"/>
                    </a:solidFill>
                  </a:tcPr>
                </a:tc>
              </a:tr>
              <a:tr h="420000">
                <a:tc>
                  <a:txBody>
                    <a:bodyPr/>
                    <a:lstStyle/>
                    <a:p>
                      <a:pPr algn="l"/>
                      <a:r>
                        <a:rPr sz="1500" b="0">
                          <a:solidFill>
                            <a:srgbClr val="1B1B1B"/>
                          </a:solidFill>
                        </a:rPr>
                        <a:t>Monitoring</a:t>
                      </a:r>
                    </a:p>
                  </a:txBody>
                  <a:tcPr marT="30000" marB="30000">
                    <a:solidFill>
                      <a:srgbClr val="FFFFFF"/>
                    </a:solidFill>
                  </a:tcPr>
                </a:tc>
                <a:tc>
                  <a:txBody>
                    <a:bodyPr/>
                    <a:lstStyle/>
                    <a:p>
                      <a:pPr algn="l"/>
                      <a:r>
                        <a:rPr sz="1500" b="0">
                          <a:solidFill>
                            <a:srgbClr val="1B1B1B"/>
                          </a:solidFill>
                        </a:rPr>
                        <a:t>Streamlit live dashboard</a:t>
                      </a:r>
                    </a:p>
                  </a:txBody>
                  <a:tcPr marT="30000" marB="30000">
                    <a:solidFill>
                      <a:srgbClr val="FFFFFF"/>
                    </a:solidFill>
                  </a:tcPr>
                </a:tc>
              </a:tr>
              <a:tr h="420000">
                <a:tc>
                  <a:txBody>
                    <a:bodyPr/>
                    <a:lstStyle/>
                    <a:p>
                      <a:pPr algn="l"/>
                      <a:r>
                        <a:rPr sz="1500" b="0">
                          <a:solidFill>
                            <a:srgbClr val="1B1B1B"/>
                          </a:solidFill>
                        </a:rPr>
                        <a:t>Quality</a:t>
                      </a:r>
                    </a:p>
                  </a:txBody>
                  <a:tcPr marT="30000" marB="30000">
                    <a:solidFill>
                      <a:srgbClr val="F1F2F4"/>
                    </a:solidFill>
                  </a:tcPr>
                </a:tc>
                <a:tc>
                  <a:txBody>
                    <a:bodyPr/>
                    <a:lstStyle/>
                    <a:p>
                      <a:pPr algn="l"/>
                      <a:r>
                        <a:rPr sz="1500" b="0">
                          <a:solidFill>
                            <a:srgbClr val="1B1B1B"/>
                          </a:solidFill>
                        </a:rPr>
                        <a:t>224 automated tests; one config file; repeatable runs</a:t>
                      </a:r>
                    </a:p>
                  </a:txBody>
                  <a:tcPr marT="30000" marB="30000">
                    <a:solidFill>
                      <a:srgbClr val="F1F2F4"/>
                    </a:solidFill>
                  </a:tcPr>
                </a:tc>
              </a:tr>
            </a:tbl>
          </a:graphicData>
        </a:graphic>
      </p:graphicFrame>
      <p:sp>
        <p:nvSpPr>
          <p:cNvPr id="9" name="TextBox 8"/>
          <p:cNvSpPr txBox="1"/>
          <p:nvPr/>
        </p:nvSpPr>
        <p:spPr>
          <a:xfrm>
            <a:off x="838200" y="5640688"/>
            <a:ext cx="10515600" cy="400000"/>
          </a:xfrm>
          <a:prstGeom prst="rect">
            <a:avLst/>
          </a:prstGeom>
          <a:noFill/>
        </p:spPr>
        <p:txBody>
          <a:bodyPr wrap="square" anchor="t" lIns="0" rIns="0">
            <a:spAutoFit/>
          </a:bodyPr>
          <a:lstStyle/>
          <a:p>
            <a:pPr algn="l"/>
            <a:r>
              <a:rPr sz="1300" b="0">
                <a:solidFill>
                  <a:srgbClr val="5B6770"/>
                </a:solidFill>
              </a:rPr>
              <a:t>Ran on: Ubuntu VM (UTM) on a MacBook Pro M5, 4 CPUs, 7 GB RAM, all free and open-source software</a:t>
            </a:r>
          </a:p>
        </p:txBody>
      </p:sp>
    </p:spTree>
    <p:extLst>
      <p:ext uri="{BB962C8B-B14F-4D97-AF65-F5344CB8AC3E}">
        <p14:creationId xmlns:p14="http://schemas.microsoft.com/office/powerpoint/2010/main" val="19333067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Implementation: Step by Step</a:t>
            </a:r>
          </a:p>
        </p:txBody>
      </p:sp>
      <p:sp>
        <p:nvSpPr>
          <p:cNvPr id="4" name="Footer Placeholder 3"/>
          <p:cNvSpPr>
            <a:spLocks noGrp="1"/>
          </p:cNvSpPr>
          <p:nvPr>
            <p:ph type="ftr" sz="quarter" idx="11"/>
          </p:nvPr>
        </p:nvSpPr>
        <p:spPr/>
        <p:txBody>
          <a:bodyPr/>
          <a:lstStyle/>
          <a:p>
            <a:r>
              <a:rPr lang="en-IN"/>
              <a:t>FL-IDS                         Department of CSE, BMSCE</a:t>
            </a:r>
          </a:p>
        </p:txBody>
      </p:sp>
      <p:sp>
        <p:nvSpPr>
          <p:cNvPr id="5" name="Slide Number Placeholder 4"/>
          <p:cNvSpPr>
            <a:spLocks noGrp="1"/>
          </p:cNvSpPr>
          <p:nvPr>
            <p:ph type="sldNum" sz="quarter" idx="12"/>
          </p:nvPr>
        </p:nvSpPr>
        <p:spPr/>
        <p:txBody>
          <a:bodyPr/>
          <a:lstStyle/>
          <a:p>
            <a:fld id="{840E0BF8-4B7D-46FA-B28A-DDF089F57DAF}" type="slidenum">
              <a:rPr lang="en-IN" smtClean="0"/>
              <a:t>9</a:t>
            </a:fld>
            <a:endParaRPr lang="en-IN"/>
          </a:p>
        </p:txBody>
      </p:sp>
      <p:pic>
        <p:nvPicPr>
          <p:cNvPr id="6"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028362" y="19050"/>
            <a:ext cx="1163638"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Date Placeholder 6"/>
          <p:cNvSpPr>
            <a:spLocks noGrp="1"/>
          </p:cNvSpPr>
          <p:nvPr>
            <p:ph type="dt" sz="half" idx="10"/>
          </p:nvPr>
        </p:nvSpPr>
        <p:spPr/>
        <p:txBody>
          <a:bodyPr/>
          <a:lstStyle/>
          <a:p>
            <a:r>
              <a:rPr lang="en-IN"/>
              <a:t>16-10-2026</a:t>
            </a:r>
          </a:p>
        </p:txBody>
      </p:sp>
      <p:sp>
        <p:nvSpPr>
          <p:cNvPr id="8" name="Rounded Rectangle 7"/>
          <p:cNvSpPr/>
          <p:nvPr/>
        </p:nvSpPr>
        <p:spPr>
          <a:xfrm>
            <a:off x="838200" y="1690688"/>
            <a:ext cx="2478900" cy="1800000"/>
          </a:xfrm>
          <a:prstGeom prst="roundRect">
            <a:avLst>
              <a:gd name="adj" fmla="val 6000"/>
            </a:avLst>
          </a:prstGeom>
          <a:solidFill>
            <a:srgbClr val="E3E7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50000" rIns="150000" tIns="120000"/>
          <a:lstStyle/>
          <a:p>
            <a:pPr algn="l"/>
            <a:r>
              <a:rPr sz="1500" b="1">
                <a:solidFill>
                  <a:srgbClr val="1E2761"/>
                </a:solidFill>
              </a:rPr>
              <a:t> </a:t>
            </a:r>
          </a:p>
          <a:p>
            <a:pPr algn="l">
              <a:spcBef>
                <a:spcPts val="500"/>
              </a:spcBef>
            </a:pPr>
            <a:r>
              <a:rPr sz="1400" b="0">
                <a:solidFill>
                  <a:srgbClr val="1B1B1B"/>
                </a:solidFill>
              </a:rPr>
              <a:t>2.2 million labelled packets, 15 classes</a:t>
            </a:r>
          </a:p>
        </p:txBody>
      </p:sp>
      <p:sp>
        <p:nvSpPr>
          <p:cNvPr id="9" name="TextBox 8"/>
          <p:cNvSpPr txBox="1"/>
          <p:nvPr/>
        </p:nvSpPr>
        <p:spPr>
          <a:xfrm>
            <a:off x="1418200" y="1760688"/>
            <a:ext cx="1798900" cy="450000"/>
          </a:xfrm>
          <a:prstGeom prst="rect">
            <a:avLst/>
          </a:prstGeom>
          <a:noFill/>
        </p:spPr>
        <p:txBody>
          <a:bodyPr wrap="square" anchor="ctr" lIns="0" rIns="0">
            <a:spAutoFit/>
          </a:bodyPr>
          <a:lstStyle/>
          <a:p>
            <a:pPr algn="l"/>
            <a:r>
              <a:rPr sz="1500" b="1">
                <a:solidFill>
                  <a:srgbClr val="1E2761"/>
                </a:solidFill>
              </a:rPr>
              <a:t>Load dataset</a:t>
            </a:r>
          </a:p>
        </p:txBody>
      </p:sp>
      <p:sp>
        <p:nvSpPr>
          <p:cNvPr id="10" name="Oval 9"/>
          <p:cNvSpPr/>
          <p:nvPr/>
        </p:nvSpPr>
        <p:spPr>
          <a:xfrm>
            <a:off x="948200" y="1785688"/>
            <a:ext cx="380000" cy="38000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rPr>
              <a:t>1</a:t>
            </a:r>
          </a:p>
        </p:txBody>
      </p:sp>
      <p:cxnSp>
        <p:nvCxnSpPr>
          <p:cNvPr id="11" name="Connector 10"/>
          <p:cNvCxnSpPr/>
          <p:nvPr/>
        </p:nvCxnSpPr>
        <p:spPr>
          <a:xfrm>
            <a:off x="3327100" y="2590688"/>
            <a:ext cx="180000" cy="0"/>
          </a:xfrm>
          <a:prstGeom prst="line">
            <a:avLst/>
          </a:prstGeom>
          <a:ln w="25400">
            <a:solidFill>
              <a:srgbClr val="5B67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517100" y="1690688"/>
            <a:ext cx="2478900" cy="1800000"/>
          </a:xfrm>
          <a:prstGeom prst="roundRect">
            <a:avLst>
              <a:gd name="adj" fmla="val 6000"/>
            </a:avLst>
          </a:prstGeom>
          <a:solidFill>
            <a:srgbClr val="E3E7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50000" rIns="150000" tIns="120000"/>
          <a:lstStyle/>
          <a:p>
            <a:pPr algn="l"/>
            <a:r>
              <a:rPr sz="1500" b="1">
                <a:solidFill>
                  <a:srgbClr val="1E2761"/>
                </a:solidFill>
              </a:rPr>
              <a:t> </a:t>
            </a:r>
          </a:p>
          <a:p>
            <a:pPr algn="l">
              <a:spcBef>
                <a:spcPts val="500"/>
              </a:spcBef>
            </a:pPr>
            <a:r>
              <a:rPr sz="1400" b="0">
                <a:solidFill>
                  <a:srgbClr val="1B1B1B"/>
                </a:solidFill>
              </a:rPr>
              <a:t>label leak (Galal 2026); broken MITM rows</a:t>
            </a:r>
          </a:p>
        </p:txBody>
      </p:sp>
      <p:sp>
        <p:nvSpPr>
          <p:cNvPr id="13" name="TextBox 12"/>
          <p:cNvSpPr txBox="1"/>
          <p:nvPr/>
        </p:nvSpPr>
        <p:spPr>
          <a:xfrm>
            <a:off x="4097100" y="1760688"/>
            <a:ext cx="1798900" cy="450000"/>
          </a:xfrm>
          <a:prstGeom prst="rect">
            <a:avLst/>
          </a:prstGeom>
          <a:noFill/>
        </p:spPr>
        <p:txBody>
          <a:bodyPr wrap="square" anchor="ctr" lIns="0" rIns="0">
            <a:spAutoFit/>
          </a:bodyPr>
          <a:lstStyle/>
          <a:p>
            <a:pPr algn="l"/>
            <a:r>
              <a:rPr sz="1500" b="1">
                <a:solidFill>
                  <a:srgbClr val="1E2761"/>
                </a:solidFill>
              </a:rPr>
              <a:t>Fix dataset errors</a:t>
            </a:r>
          </a:p>
        </p:txBody>
      </p:sp>
      <p:sp>
        <p:nvSpPr>
          <p:cNvPr id="14" name="Oval 13"/>
          <p:cNvSpPr/>
          <p:nvPr/>
        </p:nvSpPr>
        <p:spPr>
          <a:xfrm>
            <a:off x="3627100" y="1785688"/>
            <a:ext cx="380000" cy="38000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rPr>
              <a:t>2</a:t>
            </a:r>
          </a:p>
        </p:txBody>
      </p:sp>
      <p:cxnSp>
        <p:nvCxnSpPr>
          <p:cNvPr id="15" name="Connector 14"/>
          <p:cNvCxnSpPr/>
          <p:nvPr/>
        </p:nvCxnSpPr>
        <p:spPr>
          <a:xfrm>
            <a:off x="6006000" y="2590688"/>
            <a:ext cx="180000" cy="0"/>
          </a:xfrm>
          <a:prstGeom prst="line">
            <a:avLst/>
          </a:prstGeom>
          <a:ln w="25400">
            <a:solidFill>
              <a:srgbClr val="5B67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196000" y="1690688"/>
            <a:ext cx="2478900" cy="1800000"/>
          </a:xfrm>
          <a:prstGeom prst="roundRect">
            <a:avLst>
              <a:gd name="adj" fmla="val 6000"/>
            </a:avLst>
          </a:prstGeom>
          <a:solidFill>
            <a:srgbClr val="E3E7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50000" rIns="150000" tIns="120000"/>
          <a:lstStyle/>
          <a:p>
            <a:pPr algn="l"/>
            <a:r>
              <a:rPr sz="1500" b="1">
                <a:solidFill>
                  <a:srgbClr val="1E2761"/>
                </a:solidFill>
              </a:rPr>
              <a:t> </a:t>
            </a:r>
          </a:p>
          <a:p>
            <a:pPr algn="l">
              <a:spcBef>
                <a:spcPts val="500"/>
              </a:spcBef>
            </a:pPr>
            <a:r>
              <a:rPr sz="1400" b="0">
                <a:solidFill>
                  <a:srgbClr val="1B1B1B"/>
                </a:solidFill>
              </a:rPr>
              <a:t>service port, content, connection behaviour</a:t>
            </a:r>
          </a:p>
        </p:txBody>
      </p:sp>
      <p:sp>
        <p:nvSpPr>
          <p:cNvPr id="17" name="TextBox 16"/>
          <p:cNvSpPr txBox="1"/>
          <p:nvPr/>
        </p:nvSpPr>
        <p:spPr>
          <a:xfrm>
            <a:off x="6776000" y="1760688"/>
            <a:ext cx="1798900" cy="450000"/>
          </a:xfrm>
          <a:prstGeom prst="rect">
            <a:avLst/>
          </a:prstGeom>
          <a:noFill/>
        </p:spPr>
        <p:txBody>
          <a:bodyPr wrap="square" anchor="ctr" lIns="0" rIns="0">
            <a:spAutoFit/>
          </a:bodyPr>
          <a:lstStyle/>
          <a:p>
            <a:pPr algn="l"/>
            <a:r>
              <a:rPr sz="1500" b="1">
                <a:solidFill>
                  <a:srgbClr val="1E2761"/>
                </a:solidFill>
              </a:rPr>
              <a:t>Build features</a:t>
            </a:r>
          </a:p>
        </p:txBody>
      </p:sp>
      <p:sp>
        <p:nvSpPr>
          <p:cNvPr id="18" name="Oval 17"/>
          <p:cNvSpPr/>
          <p:nvPr/>
        </p:nvSpPr>
        <p:spPr>
          <a:xfrm>
            <a:off x="6306000" y="1785688"/>
            <a:ext cx="380000" cy="38000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rPr>
              <a:t>3</a:t>
            </a:r>
          </a:p>
        </p:txBody>
      </p:sp>
      <p:cxnSp>
        <p:nvCxnSpPr>
          <p:cNvPr id="19" name="Connector 18"/>
          <p:cNvCxnSpPr/>
          <p:nvPr/>
        </p:nvCxnSpPr>
        <p:spPr>
          <a:xfrm>
            <a:off x="8684900" y="2590688"/>
            <a:ext cx="180000" cy="0"/>
          </a:xfrm>
          <a:prstGeom prst="line">
            <a:avLst/>
          </a:prstGeom>
          <a:ln w="25400">
            <a:solidFill>
              <a:srgbClr val="5B67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874900" y="1690688"/>
            <a:ext cx="2478900" cy="1800000"/>
          </a:xfrm>
          <a:prstGeom prst="roundRect">
            <a:avLst>
              <a:gd name="adj" fmla="val 6000"/>
            </a:avLst>
          </a:prstGeom>
          <a:solidFill>
            <a:srgbClr val="FBF0D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50000" rIns="150000" tIns="120000"/>
          <a:lstStyle/>
          <a:p>
            <a:pPr algn="l"/>
            <a:r>
              <a:rPr sz="1500" b="1">
                <a:solidFill>
                  <a:srgbClr val="C98A0B"/>
                </a:solidFill>
              </a:rPr>
              <a:t> </a:t>
            </a:r>
          </a:p>
          <a:p>
            <a:pPr algn="l">
              <a:spcBef>
                <a:spcPts val="500"/>
              </a:spcBef>
            </a:pPr>
            <a:r>
              <a:rPr sz="1400" b="0">
                <a:solidFill>
                  <a:srgbClr val="1B1B1B"/>
                </a:solidFill>
              </a:rPr>
              <a:t>LightGBM on the server's labelled set</a:t>
            </a:r>
          </a:p>
        </p:txBody>
      </p:sp>
      <p:sp>
        <p:nvSpPr>
          <p:cNvPr id="21" name="TextBox 20"/>
          <p:cNvSpPr txBox="1"/>
          <p:nvPr/>
        </p:nvSpPr>
        <p:spPr>
          <a:xfrm>
            <a:off x="9454900" y="1760688"/>
            <a:ext cx="1798900" cy="450000"/>
          </a:xfrm>
          <a:prstGeom prst="rect">
            <a:avLst/>
          </a:prstGeom>
          <a:noFill/>
        </p:spPr>
        <p:txBody>
          <a:bodyPr wrap="square" anchor="ctr" lIns="0" rIns="0">
            <a:spAutoFit/>
          </a:bodyPr>
          <a:lstStyle/>
          <a:p>
            <a:pPr algn="l"/>
            <a:r>
              <a:rPr sz="1500" b="1">
                <a:solidFill>
                  <a:srgbClr val="C98A0B"/>
                </a:solidFill>
              </a:rPr>
              <a:t>Train classifier</a:t>
            </a:r>
          </a:p>
        </p:txBody>
      </p:sp>
      <p:sp>
        <p:nvSpPr>
          <p:cNvPr id="22" name="Oval 21"/>
          <p:cNvSpPr/>
          <p:nvPr/>
        </p:nvSpPr>
        <p:spPr>
          <a:xfrm>
            <a:off x="8984900" y="1785688"/>
            <a:ext cx="380000" cy="380000"/>
          </a:xfrm>
          <a:prstGeom prst="ellipse">
            <a:avLst/>
          </a:prstGeom>
          <a:solidFill>
            <a:srgbClr val="C98A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rPr>
              <a:t>4</a:t>
            </a:r>
          </a:p>
        </p:txBody>
      </p:sp>
      <p:sp>
        <p:nvSpPr>
          <p:cNvPr id="23" name="Rounded Rectangle 22"/>
          <p:cNvSpPr/>
          <p:nvPr/>
        </p:nvSpPr>
        <p:spPr>
          <a:xfrm>
            <a:off x="838200" y="3740688"/>
            <a:ext cx="2478900" cy="1800000"/>
          </a:xfrm>
          <a:prstGeom prst="roundRect">
            <a:avLst>
              <a:gd name="adj" fmla="val 6000"/>
            </a:avLst>
          </a:prstGeom>
          <a:solidFill>
            <a:srgbClr val="DDF1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50000" rIns="150000" tIns="120000"/>
          <a:lstStyle/>
          <a:p>
            <a:pPr algn="l"/>
            <a:r>
              <a:rPr sz="1500" b="1">
                <a:solidFill>
                  <a:srgbClr val="0A9396"/>
                </a:solidFill>
              </a:rPr>
              <a:t> </a:t>
            </a:r>
          </a:p>
          <a:p>
            <a:pPr algn="l">
              <a:spcBef>
                <a:spcPts val="500"/>
              </a:spcBef>
            </a:pPr>
            <a:r>
              <a:rPr sz="1400" b="0">
                <a:solidFill>
                  <a:srgbClr val="1B1B1B"/>
                </a:solidFill>
              </a:rPr>
              <a:t>each site gets very different traffic</a:t>
            </a:r>
          </a:p>
        </p:txBody>
      </p:sp>
      <p:sp>
        <p:nvSpPr>
          <p:cNvPr id="24" name="TextBox 23"/>
          <p:cNvSpPr txBox="1"/>
          <p:nvPr/>
        </p:nvSpPr>
        <p:spPr>
          <a:xfrm>
            <a:off x="1418200" y="3810688"/>
            <a:ext cx="1798900" cy="450000"/>
          </a:xfrm>
          <a:prstGeom prst="rect">
            <a:avLst/>
          </a:prstGeom>
          <a:noFill/>
        </p:spPr>
        <p:txBody>
          <a:bodyPr wrap="square" anchor="ctr" lIns="0" rIns="0">
            <a:spAutoFit/>
          </a:bodyPr>
          <a:lstStyle/>
          <a:p>
            <a:pPr algn="l"/>
            <a:r>
              <a:rPr sz="1500" b="1">
                <a:solidFill>
                  <a:srgbClr val="0A9396"/>
                </a:solidFill>
              </a:rPr>
              <a:t>Split into 10 sites</a:t>
            </a:r>
          </a:p>
        </p:txBody>
      </p:sp>
      <p:sp>
        <p:nvSpPr>
          <p:cNvPr id="25" name="Oval 24"/>
          <p:cNvSpPr/>
          <p:nvPr/>
        </p:nvSpPr>
        <p:spPr>
          <a:xfrm>
            <a:off x="948200" y="3835688"/>
            <a:ext cx="380000" cy="38000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rPr>
              <a:t>5</a:t>
            </a:r>
          </a:p>
        </p:txBody>
      </p:sp>
      <p:cxnSp>
        <p:nvCxnSpPr>
          <p:cNvPr id="26" name="Connector 25"/>
          <p:cNvCxnSpPr/>
          <p:nvPr/>
        </p:nvCxnSpPr>
        <p:spPr>
          <a:xfrm>
            <a:off x="3327100" y="4640688"/>
            <a:ext cx="180000" cy="0"/>
          </a:xfrm>
          <a:prstGeom prst="line">
            <a:avLst/>
          </a:prstGeom>
          <a:ln w="25400">
            <a:solidFill>
              <a:srgbClr val="5B67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3517100" y="3740688"/>
            <a:ext cx="2478900" cy="1800000"/>
          </a:xfrm>
          <a:prstGeom prst="roundRect">
            <a:avLst>
              <a:gd name="adj" fmla="val 6000"/>
            </a:avLst>
          </a:prstGeom>
          <a:solidFill>
            <a:srgbClr val="DDF1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50000" rIns="150000" tIns="120000"/>
          <a:lstStyle/>
          <a:p>
            <a:pPr algn="l"/>
            <a:r>
              <a:rPr sz="1500" b="1">
                <a:solidFill>
                  <a:srgbClr val="0A9396"/>
                </a:solidFill>
              </a:rPr>
              <a:t> </a:t>
            </a:r>
          </a:p>
          <a:p>
            <a:pPr algn="l">
              <a:spcBef>
                <a:spcPts val="500"/>
              </a:spcBef>
            </a:pPr>
            <a:r>
              <a:rPr sz="1400" b="0">
                <a:solidFill>
                  <a:srgbClr val="1B1B1B"/>
                </a:solidFill>
              </a:rPr>
              <a:t>local training + trust check, 20 rounds</a:t>
            </a:r>
          </a:p>
        </p:txBody>
      </p:sp>
      <p:sp>
        <p:nvSpPr>
          <p:cNvPr id="28" name="TextBox 27"/>
          <p:cNvSpPr txBox="1"/>
          <p:nvPr/>
        </p:nvSpPr>
        <p:spPr>
          <a:xfrm>
            <a:off x="4097100" y="3810688"/>
            <a:ext cx="1798900" cy="450000"/>
          </a:xfrm>
          <a:prstGeom prst="rect">
            <a:avLst/>
          </a:prstGeom>
          <a:noFill/>
        </p:spPr>
        <p:txBody>
          <a:bodyPr wrap="square" anchor="ctr" lIns="0" rIns="0">
            <a:spAutoFit/>
          </a:bodyPr>
          <a:lstStyle/>
          <a:p>
            <a:pPr algn="l"/>
            <a:r>
              <a:rPr sz="1500" b="1">
                <a:solidFill>
                  <a:srgbClr val="0A9396"/>
                </a:solidFill>
              </a:rPr>
              <a:t>Federated rounds</a:t>
            </a:r>
          </a:p>
        </p:txBody>
      </p:sp>
      <p:sp>
        <p:nvSpPr>
          <p:cNvPr id="29" name="Oval 28"/>
          <p:cNvSpPr/>
          <p:nvPr/>
        </p:nvSpPr>
        <p:spPr>
          <a:xfrm>
            <a:off x="3627100" y="3835688"/>
            <a:ext cx="380000" cy="38000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rPr>
              <a:t>6</a:t>
            </a:r>
          </a:p>
        </p:txBody>
      </p:sp>
      <p:cxnSp>
        <p:nvCxnSpPr>
          <p:cNvPr id="30" name="Connector 29"/>
          <p:cNvCxnSpPr/>
          <p:nvPr/>
        </p:nvCxnSpPr>
        <p:spPr>
          <a:xfrm>
            <a:off x="6006000" y="4640688"/>
            <a:ext cx="180000" cy="0"/>
          </a:xfrm>
          <a:prstGeom prst="line">
            <a:avLst/>
          </a:prstGeom>
          <a:ln w="25400">
            <a:solidFill>
              <a:srgbClr val="5B67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6196000" y="3740688"/>
            <a:ext cx="2478900" cy="1800000"/>
          </a:xfrm>
          <a:prstGeom prst="roundRect">
            <a:avLst>
              <a:gd name="adj" fmla="val 6000"/>
            </a:avLst>
          </a:prstGeom>
          <a:solidFill>
            <a:srgbClr val="F9E1E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50000" rIns="150000" tIns="120000"/>
          <a:lstStyle/>
          <a:p>
            <a:pPr algn="l"/>
            <a:r>
              <a:rPr sz="1500" b="1">
                <a:solidFill>
                  <a:srgbClr val="D64550"/>
                </a:solidFill>
              </a:rPr>
              <a:t> </a:t>
            </a:r>
          </a:p>
          <a:p>
            <a:pPr algn="l">
              <a:spcBef>
                <a:spcPts val="500"/>
              </a:spcBef>
            </a:pPr>
            <a:r>
              <a:rPr sz="1400" b="0">
                <a:solidFill>
                  <a:srgbClr val="1B1B1B"/>
                </a:solidFill>
              </a:rPr>
              <a:t>accuracy, sabotage tests, unseen-attack tests</a:t>
            </a:r>
          </a:p>
        </p:txBody>
      </p:sp>
      <p:sp>
        <p:nvSpPr>
          <p:cNvPr id="32" name="TextBox 31"/>
          <p:cNvSpPr txBox="1"/>
          <p:nvPr/>
        </p:nvSpPr>
        <p:spPr>
          <a:xfrm>
            <a:off x="6776000" y="3810688"/>
            <a:ext cx="1798900" cy="450000"/>
          </a:xfrm>
          <a:prstGeom prst="rect">
            <a:avLst/>
          </a:prstGeom>
          <a:noFill/>
        </p:spPr>
        <p:txBody>
          <a:bodyPr wrap="square" anchor="ctr" lIns="0" rIns="0">
            <a:spAutoFit/>
          </a:bodyPr>
          <a:lstStyle/>
          <a:p>
            <a:pPr algn="l"/>
            <a:r>
              <a:rPr sz="1500" b="1">
                <a:solidFill>
                  <a:srgbClr val="D64550"/>
                </a:solidFill>
              </a:rPr>
              <a:t>Evaluate</a:t>
            </a:r>
          </a:p>
        </p:txBody>
      </p:sp>
      <p:sp>
        <p:nvSpPr>
          <p:cNvPr id="33" name="Oval 32"/>
          <p:cNvSpPr/>
          <p:nvPr/>
        </p:nvSpPr>
        <p:spPr>
          <a:xfrm>
            <a:off x="6306000" y="3835688"/>
            <a:ext cx="380000" cy="380000"/>
          </a:xfrm>
          <a:prstGeom prst="ellipse">
            <a:avLst/>
          </a:prstGeom>
          <a:solidFill>
            <a:srgbClr val="D6455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rPr>
              <a:t>7</a:t>
            </a:r>
          </a:p>
        </p:txBody>
      </p:sp>
      <p:cxnSp>
        <p:nvCxnSpPr>
          <p:cNvPr id="34" name="Connector 33"/>
          <p:cNvCxnSpPr/>
          <p:nvPr/>
        </p:nvCxnSpPr>
        <p:spPr>
          <a:xfrm>
            <a:off x="8684900" y="4640688"/>
            <a:ext cx="180000" cy="0"/>
          </a:xfrm>
          <a:prstGeom prst="line">
            <a:avLst/>
          </a:prstGeom>
          <a:ln w="25400">
            <a:solidFill>
              <a:srgbClr val="5B67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874900" y="3740688"/>
            <a:ext cx="2478900" cy="1800000"/>
          </a:xfrm>
          <a:prstGeom prst="roundRect">
            <a:avLst>
              <a:gd name="adj" fmla="val 6000"/>
            </a:avLst>
          </a:prstGeom>
          <a:solidFill>
            <a:srgbClr val="F9E1E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50000" rIns="150000" tIns="120000"/>
          <a:lstStyle/>
          <a:p>
            <a:pPr algn="l"/>
            <a:r>
              <a:rPr sz="1500" b="1">
                <a:solidFill>
                  <a:srgbClr val="D64550"/>
                </a:solidFill>
              </a:rPr>
              <a:t> </a:t>
            </a:r>
          </a:p>
          <a:p>
            <a:pPr algn="l">
              <a:spcBef>
                <a:spcPts val="500"/>
              </a:spcBef>
            </a:pPr>
            <a:r>
              <a:rPr sz="1400" b="0">
                <a:solidFill>
                  <a:srgbClr val="1B1B1B"/>
                </a:solidFill>
              </a:rPr>
              <a:t>replay attack → detect → block on switch</a:t>
            </a:r>
          </a:p>
        </p:txBody>
      </p:sp>
      <p:sp>
        <p:nvSpPr>
          <p:cNvPr id="36" name="TextBox 35"/>
          <p:cNvSpPr txBox="1"/>
          <p:nvPr/>
        </p:nvSpPr>
        <p:spPr>
          <a:xfrm>
            <a:off x="9454900" y="3810688"/>
            <a:ext cx="1798900" cy="450000"/>
          </a:xfrm>
          <a:prstGeom prst="rect">
            <a:avLst/>
          </a:prstGeom>
          <a:noFill/>
        </p:spPr>
        <p:txBody>
          <a:bodyPr wrap="square" anchor="ctr" lIns="0" rIns="0">
            <a:spAutoFit/>
          </a:bodyPr>
          <a:lstStyle/>
          <a:p>
            <a:pPr algn="l"/>
            <a:r>
              <a:rPr sz="1500" b="1">
                <a:solidFill>
                  <a:srgbClr val="D64550"/>
                </a:solidFill>
              </a:rPr>
              <a:t>Live demo</a:t>
            </a:r>
          </a:p>
        </p:txBody>
      </p:sp>
      <p:sp>
        <p:nvSpPr>
          <p:cNvPr id="37" name="Oval 36"/>
          <p:cNvSpPr/>
          <p:nvPr/>
        </p:nvSpPr>
        <p:spPr>
          <a:xfrm>
            <a:off x="8984900" y="3835688"/>
            <a:ext cx="380000" cy="380000"/>
          </a:xfrm>
          <a:prstGeom prst="ellipse">
            <a:avLst/>
          </a:prstGeom>
          <a:solidFill>
            <a:srgbClr val="D6455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rPr>
              <a:t>8</a:t>
            </a:r>
          </a:p>
        </p:txBody>
      </p:sp>
    </p:spTree>
    <p:extLst>
      <p:ext uri="{BB962C8B-B14F-4D97-AF65-F5344CB8AC3E}">
        <p14:creationId xmlns:p14="http://schemas.microsoft.com/office/powerpoint/2010/main" val="19333067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Implementation: How We Raised Accuracy</a:t>
            </a:r>
          </a:p>
        </p:txBody>
      </p:sp>
      <p:sp>
        <p:nvSpPr>
          <p:cNvPr id="4" name="Footer Placeholder 3"/>
          <p:cNvSpPr>
            <a:spLocks noGrp="1"/>
          </p:cNvSpPr>
          <p:nvPr>
            <p:ph type="ftr" sz="quarter" idx="11"/>
          </p:nvPr>
        </p:nvSpPr>
        <p:spPr/>
        <p:txBody>
          <a:bodyPr/>
          <a:lstStyle/>
          <a:p>
            <a:r>
              <a:rPr lang="en-IN"/>
              <a:t>FL-IDS                         Department of CSE, BMSCE</a:t>
            </a:r>
          </a:p>
        </p:txBody>
      </p:sp>
      <p:sp>
        <p:nvSpPr>
          <p:cNvPr id="5" name="Slide Number Placeholder 4"/>
          <p:cNvSpPr>
            <a:spLocks noGrp="1"/>
          </p:cNvSpPr>
          <p:nvPr>
            <p:ph type="sldNum" sz="quarter" idx="12"/>
          </p:nvPr>
        </p:nvSpPr>
        <p:spPr/>
        <p:txBody>
          <a:bodyPr/>
          <a:lstStyle/>
          <a:p>
            <a:fld id="{840E0BF8-4B7D-46FA-B28A-DDF089F57DAF}" type="slidenum">
              <a:rPr lang="en-IN" smtClean="0"/>
              <a:t>9</a:t>
            </a:fld>
            <a:endParaRPr lang="en-IN"/>
          </a:p>
        </p:txBody>
      </p:sp>
      <p:pic>
        <p:nvPicPr>
          <p:cNvPr id="6"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028362" y="19050"/>
            <a:ext cx="1163638"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Date Placeholder 6"/>
          <p:cNvSpPr>
            <a:spLocks noGrp="1"/>
          </p:cNvSpPr>
          <p:nvPr>
            <p:ph type="dt" sz="half" idx="10"/>
          </p:nvPr>
        </p:nvSpPr>
        <p:spPr/>
        <p:txBody>
          <a:bodyPr/>
          <a:lstStyle/>
          <a:p>
            <a:r>
              <a:rPr lang="en-IN"/>
              <a:t>16-10-2026</a:t>
            </a:r>
          </a:p>
        </p:txBody>
      </p:sp>
      <p:sp>
        <p:nvSpPr>
          <p:cNvPr id="8" name="TextBox 7"/>
          <p:cNvSpPr txBox="1"/>
          <p:nvPr/>
        </p:nvSpPr>
        <p:spPr>
          <a:xfrm>
            <a:off x="838200" y="1610688"/>
            <a:ext cx="10515600" cy="800000"/>
          </a:xfrm>
          <a:prstGeom prst="rect">
            <a:avLst/>
          </a:prstGeom>
          <a:noFill/>
        </p:spPr>
        <p:txBody>
          <a:bodyPr wrap="square" anchor="t" lIns="0" rIns="0">
            <a:spAutoFit/>
          </a:bodyPr>
          <a:lstStyle/>
          <a:p>
            <a:pPr algn="l"/>
            <a:r>
              <a:rPr sz="1700" b="1">
                <a:solidFill>
                  <a:srgbClr val="1B1B1B"/>
                </a:solidFill>
              </a:rPr>
              <a:t>The problem: </a:t>
            </a:r>
            <a:r>
              <a:rPr sz="1700" b="0">
                <a:solidFill>
                  <a:srgbClr val="1B1B1B"/>
                </a:solidFill>
              </a:rPr>
              <a:t>in web attacks like SQL injection and XSS, only 5–17% of packets carry any content. The rest are identical “acknowledgement” packets, the same for every attack, so the classifier could not tell them apart.</a:t>
            </a:r>
          </a:p>
        </p:txBody>
      </p:sp>
      <p:sp>
        <p:nvSpPr>
          <p:cNvPr id="9" name="Rounded Rectangle 8"/>
          <p:cNvSpPr/>
          <p:nvPr/>
        </p:nvSpPr>
        <p:spPr>
          <a:xfrm>
            <a:off x="838200" y="2640688"/>
            <a:ext cx="3338533" cy="2200000"/>
          </a:xfrm>
          <a:prstGeom prst="roundRect">
            <a:avLst>
              <a:gd name="adj" fmla="val 6000"/>
            </a:avLst>
          </a:prstGeom>
          <a:solidFill>
            <a:srgbClr val="E3E7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50000" rIns="150000" tIns="120000"/>
          <a:lstStyle/>
          <a:p>
            <a:pPr algn="l"/>
            <a:r>
              <a:rPr sz="1800" b="1">
                <a:solidFill>
                  <a:srgbClr val="1E2761"/>
                </a:solidFill>
              </a:rPr>
              <a:t>1. Which service?</a:t>
            </a:r>
          </a:p>
          <a:p>
            <a:pPr algn="l">
              <a:spcBef>
                <a:spcPts val="500"/>
              </a:spcBef>
            </a:pPr>
            <a:r>
              <a:rPr sz="1500" b="0">
                <a:solidFill>
                  <a:srgbClr val="1B1B1B"/>
                </a:solidFill>
              </a:rPr>
              <a:t>The server port of each connection: web (80), MQTT (1883), etc.</a:t>
            </a:r>
          </a:p>
        </p:txBody>
      </p:sp>
      <p:sp>
        <p:nvSpPr>
          <p:cNvPr id="10" name="Rounded Rectangle 9"/>
          <p:cNvSpPr/>
          <p:nvPr/>
        </p:nvSpPr>
        <p:spPr>
          <a:xfrm>
            <a:off x="4426733" y="2640688"/>
            <a:ext cx="3338533" cy="2200000"/>
          </a:xfrm>
          <a:prstGeom prst="roundRect">
            <a:avLst>
              <a:gd name="adj" fmla="val 6000"/>
            </a:avLst>
          </a:prstGeom>
          <a:solidFill>
            <a:srgbClr val="DDF1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50000" rIns="150000" tIns="120000"/>
          <a:lstStyle/>
          <a:p>
            <a:pPr algn="l"/>
            <a:r>
              <a:rPr sz="1800" b="1">
                <a:solidFill>
                  <a:srgbClr val="0A9396"/>
                </a:solidFill>
              </a:rPr>
              <a:t>2. What was sent?</a:t>
            </a:r>
          </a:p>
          <a:p>
            <a:pPr algn="l">
              <a:spcBef>
                <a:spcPts val="500"/>
              </a:spcBef>
            </a:pPr>
            <a:r>
              <a:rPr sz="1500" b="0">
                <a:solidFill>
                  <a:srgbClr val="1B1B1B"/>
                </a:solidFill>
              </a:rPr>
              <a:t>Numbers describing the content: length, randomness, SQL or script keywords, uploads, logins.</a:t>
            </a:r>
          </a:p>
        </p:txBody>
      </p:sp>
      <p:sp>
        <p:nvSpPr>
          <p:cNvPr id="11" name="Rounded Rectangle 10"/>
          <p:cNvSpPr/>
          <p:nvPr/>
        </p:nvSpPr>
        <p:spPr>
          <a:xfrm>
            <a:off x="8015266" y="2640688"/>
            <a:ext cx="3338533" cy="2200000"/>
          </a:xfrm>
          <a:prstGeom prst="roundRect">
            <a:avLst>
              <a:gd name="adj" fmla="val 6000"/>
            </a:avLst>
          </a:prstGeom>
          <a:solidFill>
            <a:srgbClr val="F9E1E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50000" rIns="150000" tIns="120000"/>
          <a:lstStyle/>
          <a:p>
            <a:pPr algn="l"/>
            <a:r>
              <a:rPr sz="1800" b="1">
                <a:solidFill>
                  <a:srgbClr val="D64550"/>
                </a:solidFill>
              </a:rPr>
              <a:t>3. How did the conversation behave?</a:t>
            </a:r>
          </a:p>
          <a:p>
            <a:pPr algn="l">
              <a:spcBef>
                <a:spcPts val="500"/>
              </a:spcBef>
            </a:pPr>
            <a:r>
              <a:rPr sz="1500" b="0">
                <a:solidFill>
                  <a:srgbClr val="1B1B1B"/>
                </a:solidFill>
              </a:rPr>
              <a:t>Group packets into connections; every packet gets its connection's totals and rates.</a:t>
            </a:r>
          </a:p>
        </p:txBody>
      </p:sp>
      <p:sp>
        <p:nvSpPr>
          <p:cNvPr id="12" name="TextBox 11"/>
          <p:cNvSpPr txBox="1"/>
          <p:nvPr/>
        </p:nvSpPr>
        <p:spPr>
          <a:xfrm>
            <a:off x="838200" y="4990688"/>
            <a:ext cx="10515600" cy="600000"/>
          </a:xfrm>
          <a:prstGeom prst="rect">
            <a:avLst/>
          </a:prstGeom>
          <a:noFill/>
        </p:spPr>
        <p:txBody>
          <a:bodyPr wrap="square" anchor="t" lIns="0" rIns="0">
            <a:spAutoFit/>
          </a:bodyPr>
          <a:lstStyle/>
          <a:p>
            <a:pPr algn="l"/>
            <a:r>
              <a:rPr sz="1500" b="1">
                <a:solidFill>
                  <a:srgbClr val="1B1B1B"/>
                </a:solidFill>
              </a:rPr>
              <a:t>+ rare attack types weighted higher.  </a:t>
            </a:r>
            <a:r>
              <a:rPr sz="1500" b="0">
                <a:solidFill>
                  <a:srgbClr val="1B1B1B"/>
                </a:solidFill>
              </a:rPr>
              <a:t>We never use IP addresses or timestamps, since those would let the model cheat.</a:t>
            </a:r>
          </a:p>
        </p:txBody>
      </p:sp>
    </p:spTree>
    <p:extLst>
      <p:ext uri="{BB962C8B-B14F-4D97-AF65-F5344CB8AC3E}">
        <p14:creationId xmlns:p14="http://schemas.microsoft.com/office/powerpoint/2010/main" val="19333067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Results: Dataset and How We Tested</a:t>
            </a:r>
            <a:endParaRPr lang="en-IN" dirty="0"/>
          </a:p>
        </p:txBody>
      </p:sp>
      <p:sp>
        <p:nvSpPr>
          <p:cNvPr id="4" name="Footer Placeholder 3"/>
          <p:cNvSpPr>
            <a:spLocks noGrp="1"/>
          </p:cNvSpPr>
          <p:nvPr>
            <p:ph type="ftr" sz="quarter" idx="11"/>
          </p:nvPr>
        </p:nvSpPr>
        <p:spPr/>
        <p:txBody>
          <a:bodyPr/>
          <a:lstStyle/>
          <a:p>
            <a:r>
              <a:rPr lang="en-IN"/>
              <a:t>FL-IDS                         Department of CSE, BMSCE</a:t>
            </a:r>
          </a:p>
        </p:txBody>
      </p:sp>
      <p:sp>
        <p:nvSpPr>
          <p:cNvPr id="5" name="Slide Number Placeholder 4"/>
          <p:cNvSpPr>
            <a:spLocks noGrp="1"/>
          </p:cNvSpPr>
          <p:nvPr>
            <p:ph type="sldNum" sz="quarter" idx="12"/>
          </p:nvPr>
        </p:nvSpPr>
        <p:spPr/>
        <p:txBody>
          <a:bodyPr/>
          <a:lstStyle/>
          <a:p>
            <a:fld id="{840E0BF8-4B7D-46FA-B28A-DDF089F57DAF}" type="slidenum">
              <a:rPr lang="en-IN" smtClean="0"/>
              <a:t>10</a:t>
            </a:fld>
            <a:endParaRPr lang="en-IN"/>
          </a:p>
        </p:txBody>
      </p:sp>
      <p:pic>
        <p:nvPicPr>
          <p:cNvPr id="6"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028362" y="19050"/>
            <a:ext cx="1163638"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Date Placeholder 6"/>
          <p:cNvSpPr>
            <a:spLocks noGrp="1"/>
          </p:cNvSpPr>
          <p:nvPr>
            <p:ph type="dt" sz="half" idx="10"/>
          </p:nvPr>
        </p:nvSpPr>
        <p:spPr/>
        <p:txBody>
          <a:bodyPr/>
          <a:lstStyle/>
          <a:p>
            <a:r>
              <a:rPr lang="en-IN"/>
              <a:t>16-10-2026</a:t>
            </a:r>
          </a:p>
        </p:txBody>
      </p:sp>
      <p:graphicFrame>
        <p:nvGraphicFramePr>
          <p:cNvPr id="8" name="Table 7"/>
          <p:cNvGraphicFramePr>
            <a:graphicFrameLocks noGrp="1"/>
          </p:cNvGraphicFramePr>
          <p:nvPr/>
        </p:nvGraphicFramePr>
        <p:xfrm>
          <a:off x="838200" y="1740688"/>
          <a:ext cx="4600000" cy="3120000"/>
        </p:xfrm>
        <a:graphic>
          <a:graphicData uri="http://schemas.openxmlformats.org/drawingml/2006/table">
            <a:tbl>
              <a:tblPr firstRow="1" bandRow="1">
                <a:tableStyleId>{5C22544A-7EE6-4342-B048-85BDC9FD1C3A}</a:tableStyleId>
              </a:tblPr>
              <a:tblGrid>
                <a:gridCol w="2300000"/>
                <a:gridCol w="2300000"/>
              </a:tblGrid>
              <a:tr h="390000">
                <a:tc>
                  <a:txBody>
                    <a:bodyPr/>
                    <a:lstStyle/>
                    <a:p>
                      <a:pPr algn="l"/>
                      <a:r>
                        <a:rPr sz="1400" b="1">
                          <a:solidFill>
                            <a:srgbClr val="FFFFFF"/>
                          </a:solidFill>
                        </a:rPr>
                        <a:t>Edge-IIoTset</a:t>
                      </a:r>
                    </a:p>
                  </a:txBody>
                  <a:tcPr marT="30000" marB="30000">
                    <a:solidFill>
                      <a:srgbClr val="1E2761"/>
                    </a:solidFill>
                  </a:tcPr>
                </a:tc>
                <a:tc>
                  <a:txBody>
                    <a:bodyPr/>
                    <a:lstStyle/>
                    <a:p>
                      <a:pPr algn="ctr"/>
                      <a:r>
                        <a:rPr sz="1400" b="1">
                          <a:solidFill>
                            <a:srgbClr val="FFFFFF"/>
                          </a:solidFill>
                        </a:rPr>
                        <a:t>Value</a:t>
                      </a:r>
                    </a:p>
                  </a:txBody>
                  <a:tcPr marT="30000" marB="30000">
                    <a:solidFill>
                      <a:srgbClr val="1E2761"/>
                    </a:solidFill>
                  </a:tcPr>
                </a:tc>
              </a:tr>
              <a:tr h="390000">
                <a:tc>
                  <a:txBody>
                    <a:bodyPr/>
                    <a:lstStyle/>
                    <a:p>
                      <a:pPr algn="l"/>
                      <a:r>
                        <a:rPr sz="1400" b="0">
                          <a:solidFill>
                            <a:srgbClr val="1B1B1B"/>
                          </a:solidFill>
                        </a:rPr>
                        <a:t>Packets</a:t>
                      </a:r>
                    </a:p>
                  </a:txBody>
                  <a:tcPr marT="30000" marB="30000">
                    <a:solidFill>
                      <a:srgbClr val="FFFFFF"/>
                    </a:solidFill>
                  </a:tcPr>
                </a:tc>
                <a:tc>
                  <a:txBody>
                    <a:bodyPr/>
                    <a:lstStyle/>
                    <a:p>
                      <a:pPr algn="ctr"/>
                      <a:r>
                        <a:rPr sz="1400" b="0">
                          <a:solidFill>
                            <a:srgbClr val="1B1B1B"/>
                          </a:solidFill>
                        </a:rPr>
                        <a:t>2.2 million</a:t>
                      </a:r>
                    </a:p>
                  </a:txBody>
                  <a:tcPr marT="30000" marB="30000">
                    <a:solidFill>
                      <a:srgbClr val="FFFFFF"/>
                    </a:solidFill>
                  </a:tcPr>
                </a:tc>
              </a:tr>
              <a:tr h="390000">
                <a:tc>
                  <a:txBody>
                    <a:bodyPr/>
                    <a:lstStyle/>
                    <a:p>
                      <a:pPr algn="l"/>
                      <a:r>
                        <a:rPr sz="1400" b="0">
                          <a:solidFill>
                            <a:srgbClr val="1B1B1B"/>
                          </a:solidFill>
                        </a:rPr>
                        <a:t>After cleaning</a:t>
                      </a:r>
                    </a:p>
                  </a:txBody>
                  <a:tcPr marT="30000" marB="30000">
                    <a:solidFill>
                      <a:srgbClr val="F1F2F4"/>
                    </a:solidFill>
                  </a:tcPr>
                </a:tc>
                <a:tc>
                  <a:txBody>
                    <a:bodyPr/>
                    <a:lstStyle/>
                    <a:p>
                      <a:pPr algn="ctr"/>
                      <a:r>
                        <a:rPr sz="1400" b="0">
                          <a:solidFill>
                            <a:srgbClr val="1B1B1B"/>
                          </a:solidFill>
                        </a:rPr>
                        <a:t>1.99 million</a:t>
                      </a:r>
                    </a:p>
                  </a:txBody>
                  <a:tcPr marT="30000" marB="30000">
                    <a:solidFill>
                      <a:srgbClr val="F1F2F4"/>
                    </a:solidFill>
                  </a:tcPr>
                </a:tc>
              </a:tr>
              <a:tr h="390000">
                <a:tc>
                  <a:txBody>
                    <a:bodyPr/>
                    <a:lstStyle/>
                    <a:p>
                      <a:pPr algn="l"/>
                      <a:r>
                        <a:rPr sz="1400" b="0">
                          <a:solidFill>
                            <a:srgbClr val="1B1B1B"/>
                          </a:solidFill>
                        </a:rPr>
                        <a:t>Classifier trained on</a:t>
                      </a:r>
                    </a:p>
                  </a:txBody>
                  <a:tcPr marT="30000" marB="30000">
                    <a:solidFill>
                      <a:srgbClr val="FFFFFF"/>
                    </a:solidFill>
                  </a:tcPr>
                </a:tc>
                <a:tc>
                  <a:txBody>
                    <a:bodyPr/>
                    <a:lstStyle/>
                    <a:p>
                      <a:pPr algn="ctr"/>
                      <a:r>
                        <a:rPr sz="1400" b="0">
                          <a:solidFill>
                            <a:srgbClr val="1B1B1B"/>
                          </a:solidFill>
                        </a:rPr>
                        <a:t>1.43 million</a:t>
                      </a:r>
                    </a:p>
                  </a:txBody>
                  <a:tcPr marT="30000" marB="30000">
                    <a:solidFill>
                      <a:srgbClr val="FFFFFF"/>
                    </a:solidFill>
                  </a:tcPr>
                </a:tc>
              </a:tr>
              <a:tr h="390000">
                <a:tc>
                  <a:txBody>
                    <a:bodyPr/>
                    <a:lstStyle/>
                    <a:p>
                      <a:pPr algn="l"/>
                      <a:r>
                        <a:rPr sz="1400" b="0">
                          <a:solidFill>
                            <a:srgbClr val="1B1B1B"/>
                          </a:solidFill>
                        </a:rPr>
                        <a:t>Tested on (unseen)</a:t>
                      </a:r>
                    </a:p>
                  </a:txBody>
                  <a:tcPr marT="30000" marB="30000">
                    <a:solidFill>
                      <a:srgbClr val="F1F2F4"/>
                    </a:solidFill>
                  </a:tcPr>
                </a:tc>
                <a:tc>
                  <a:txBody>
                    <a:bodyPr/>
                    <a:lstStyle/>
                    <a:p>
                      <a:pPr algn="ctr"/>
                      <a:r>
                        <a:rPr sz="1400" b="0">
                          <a:solidFill>
                            <a:srgbClr val="1B1B1B"/>
                          </a:solidFill>
                        </a:rPr>
                        <a:t>397 thousand</a:t>
                      </a:r>
                    </a:p>
                  </a:txBody>
                  <a:tcPr marT="30000" marB="30000">
                    <a:solidFill>
                      <a:srgbClr val="F1F2F4"/>
                    </a:solidFill>
                  </a:tcPr>
                </a:tc>
              </a:tr>
              <a:tr h="390000">
                <a:tc>
                  <a:txBody>
                    <a:bodyPr/>
                    <a:lstStyle/>
                    <a:p>
                      <a:pPr algn="l"/>
                      <a:r>
                        <a:rPr sz="1400" b="0">
                          <a:solidFill>
                            <a:srgbClr val="1B1B1B"/>
                          </a:solidFill>
                        </a:rPr>
                        <a:t>Classes</a:t>
                      </a:r>
                    </a:p>
                  </a:txBody>
                  <a:tcPr marT="30000" marB="30000">
                    <a:solidFill>
                      <a:srgbClr val="FFFFFF"/>
                    </a:solidFill>
                  </a:tcPr>
                </a:tc>
                <a:tc>
                  <a:txBody>
                    <a:bodyPr/>
                    <a:lstStyle/>
                    <a:p>
                      <a:pPr algn="ctr"/>
                      <a:r>
                        <a:rPr sz="1400" b="0">
                          <a:solidFill>
                            <a:srgbClr val="1B1B1B"/>
                          </a:solidFill>
                        </a:rPr>
                        <a:t>15 (Normal + 14 attacks)</a:t>
                      </a:r>
                    </a:p>
                  </a:txBody>
                  <a:tcPr marT="30000" marB="30000">
                    <a:solidFill>
                      <a:srgbClr val="FFFFFF"/>
                    </a:solidFill>
                  </a:tcPr>
                </a:tc>
              </a:tr>
              <a:tr h="390000">
                <a:tc>
                  <a:txBody>
                    <a:bodyPr/>
                    <a:lstStyle/>
                    <a:p>
                      <a:pPr algn="l"/>
                      <a:r>
                        <a:rPr sz="1400" b="0">
                          <a:solidFill>
                            <a:srgbClr val="1B1B1B"/>
                          </a:solidFill>
                        </a:rPr>
                        <a:t>Normal traffic</a:t>
                      </a:r>
                    </a:p>
                  </a:txBody>
                  <a:tcPr marT="30000" marB="30000">
                    <a:solidFill>
                      <a:srgbClr val="F1F2F4"/>
                    </a:solidFill>
                  </a:tcPr>
                </a:tc>
                <a:tc>
                  <a:txBody>
                    <a:bodyPr/>
                    <a:lstStyle/>
                    <a:p>
                      <a:pPr algn="ctr"/>
                      <a:r>
                        <a:rPr sz="1400" b="0">
                          <a:solidFill>
                            <a:srgbClr val="1B1B1B"/>
                          </a:solidFill>
                        </a:rPr>
                        <a:t>71%</a:t>
                      </a:r>
                    </a:p>
                  </a:txBody>
                  <a:tcPr marT="30000" marB="30000">
                    <a:solidFill>
                      <a:srgbClr val="F1F2F4"/>
                    </a:solidFill>
                  </a:tcPr>
                </a:tc>
              </a:tr>
              <a:tr h="390000">
                <a:tc>
                  <a:txBody>
                    <a:bodyPr/>
                    <a:lstStyle/>
                    <a:p>
                      <a:pPr algn="l"/>
                      <a:r>
                        <a:rPr sz="1400" b="0">
                          <a:solidFill>
                            <a:srgbClr val="1B1B1B"/>
                          </a:solidFill>
                        </a:rPr>
                        <a:t>Rarest attacks</a:t>
                      </a:r>
                    </a:p>
                  </a:txBody>
                  <a:tcPr marT="30000" marB="30000">
                    <a:solidFill>
                      <a:srgbClr val="FFFFFF"/>
                    </a:solidFill>
                  </a:tcPr>
                </a:tc>
                <a:tc>
                  <a:txBody>
                    <a:bodyPr/>
                    <a:lstStyle/>
                    <a:p>
                      <a:pPr algn="ctr"/>
                      <a:r>
                        <a:rPr sz="1400" b="0">
                          <a:solidFill>
                            <a:srgbClr val="1B1B1B"/>
                          </a:solidFill>
                        </a:rPr>
                        <a:t>MITM, Fingerprinting</a:t>
                      </a:r>
                    </a:p>
                  </a:txBody>
                  <a:tcPr marT="30000" marB="30000">
                    <a:solidFill>
                      <a:srgbClr val="FFFFFF"/>
                    </a:solidFill>
                  </a:tcPr>
                </a:tc>
              </a:tr>
            </a:tbl>
          </a:graphicData>
        </a:graphic>
      </p:graphicFrame>
      <p:sp>
        <p:nvSpPr>
          <p:cNvPr id="9" name="Rounded Rectangle 8"/>
          <p:cNvSpPr/>
          <p:nvPr/>
        </p:nvSpPr>
        <p:spPr>
          <a:xfrm>
            <a:off x="5738200" y="1740688"/>
            <a:ext cx="5615600" cy="260000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50000" rIns="150000" tIns="120000"/>
          <a:lstStyle/>
          <a:p>
            <a:pPr algn="l"/>
            <a:r>
              <a:rPr sz="1800" b="1">
                <a:solidFill>
                  <a:srgbClr val="1E2761"/>
                </a:solidFill>
              </a:rPr>
              <a:t>A strict test</a:t>
            </a:r>
          </a:p>
          <a:p>
            <a:pPr algn="l">
              <a:spcBef>
                <a:spcPts val="500"/>
              </a:spcBef>
            </a:pPr>
            <a:r>
              <a:rPr sz="1500" b="0">
                <a:solidFill>
                  <a:srgbClr val="1B1B1B"/>
                </a:solidFill>
              </a:rPr>
              <a:t>We test on whole connections the model has never seen, so it cannot pass by memorising them.</a:t>
            </a:r>
          </a:p>
          <a:p>
            <a:pPr algn="l">
              <a:spcBef>
                <a:spcPts val="500"/>
              </a:spcBef>
            </a:pPr>
            <a:r>
              <a:rPr sz="1500" b="0">
                <a:solidFill>
                  <a:srgbClr val="1B1B1B"/>
                </a:solidFill>
              </a:rPr>
              <a:t>Repeated with 3 different random seeds.</a:t>
            </a:r>
          </a:p>
          <a:p>
            <a:pPr algn="l">
              <a:spcBef>
                <a:spcPts val="500"/>
              </a:spcBef>
            </a:pPr>
            <a:r>
              <a:rPr sz="1500" b="1">
                <a:solidFill>
                  <a:srgbClr val="1B1B1B"/>
                </a:solidFill>
              </a:rPr>
              <a:t>Accuracy </a:t>
            </a:r>
            <a:r>
              <a:rPr sz="1500" b="0">
                <a:solidFill>
                  <a:srgbClr val="1B1B1B"/>
                </a:solidFill>
              </a:rPr>
              <a:t>= share of correct answers.  </a:t>
            </a:r>
            <a:r>
              <a:rPr sz="1500" b="1">
                <a:solidFill>
                  <a:srgbClr val="1B1B1B"/>
                </a:solidFill>
              </a:rPr>
              <a:t>Macro F1 </a:t>
            </a:r>
            <a:r>
              <a:rPr sz="1500" b="0">
                <a:solidFill>
                  <a:srgbClr val="1B1B1B"/>
                </a:solidFill>
              </a:rPr>
              <a:t>= average score over all 15 classes, so rare attacks count as much as common ones.</a:t>
            </a:r>
          </a:p>
        </p:txBody>
      </p:sp>
      <p:sp>
        <p:nvSpPr>
          <p:cNvPr id="10" name="TextBox 9"/>
          <p:cNvSpPr txBox="1"/>
          <p:nvPr/>
        </p:nvSpPr>
        <p:spPr>
          <a:xfrm>
            <a:off x="5738200" y="4490688"/>
            <a:ext cx="5615600" cy="900000"/>
          </a:xfrm>
          <a:prstGeom prst="rect">
            <a:avLst/>
          </a:prstGeom>
          <a:noFill/>
        </p:spPr>
        <p:txBody>
          <a:bodyPr wrap="square" anchor="t" lIns="0" rIns="0">
            <a:spAutoFit/>
          </a:bodyPr>
          <a:lstStyle/>
          <a:p>
            <a:pPr algn="l"/>
            <a:r>
              <a:rPr sz="1400" b="1">
                <a:solidFill>
                  <a:srgbClr val="1B1B1B"/>
                </a:solidFill>
              </a:rPr>
              <a:t>Fixed first: </a:t>
            </a:r>
            <a:r>
              <a:rPr sz="1400" b="0">
                <a:solidFill>
                  <a:srgbClr val="1B1B1B"/>
                </a:solidFill>
              </a:rPr>
              <a:t>a formatting error in the public dataset gave away the answer (one column alone separated normal from attack perfectly), and the MITM rows were in the wrong columns.</a:t>
            </a:r>
          </a:p>
        </p:txBody>
      </p:sp>
    </p:spTree>
    <p:extLst>
      <p:ext uri="{BB962C8B-B14F-4D97-AF65-F5344CB8AC3E}">
        <p14:creationId xmlns:p14="http://schemas.microsoft.com/office/powerpoint/2010/main" val="3399883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Results: Accuracy Target Met</a:t>
            </a:r>
            <a:endParaRPr lang="en-IN" dirty="0"/>
          </a:p>
        </p:txBody>
      </p:sp>
      <p:sp>
        <p:nvSpPr>
          <p:cNvPr id="4" name="Footer Placeholder 3"/>
          <p:cNvSpPr>
            <a:spLocks noGrp="1"/>
          </p:cNvSpPr>
          <p:nvPr>
            <p:ph type="ftr" sz="quarter" idx="11"/>
          </p:nvPr>
        </p:nvSpPr>
        <p:spPr/>
        <p:txBody>
          <a:bodyPr/>
          <a:lstStyle/>
          <a:p>
            <a:r>
              <a:rPr lang="en-IN"/>
              <a:t>FL-IDS                         Department of CSE, BMSCE</a:t>
            </a:r>
          </a:p>
        </p:txBody>
      </p:sp>
      <p:sp>
        <p:nvSpPr>
          <p:cNvPr id="5" name="Slide Number Placeholder 4"/>
          <p:cNvSpPr>
            <a:spLocks noGrp="1"/>
          </p:cNvSpPr>
          <p:nvPr>
            <p:ph type="sldNum" sz="quarter" idx="12"/>
          </p:nvPr>
        </p:nvSpPr>
        <p:spPr/>
        <p:txBody>
          <a:bodyPr/>
          <a:lstStyle/>
          <a:p>
            <a:fld id="{840E0BF8-4B7D-46FA-B28A-DDF089F57DAF}" type="slidenum">
              <a:rPr lang="en-IN" smtClean="0"/>
              <a:t>10</a:t>
            </a:fld>
            <a:endParaRPr lang="en-IN"/>
          </a:p>
        </p:txBody>
      </p:sp>
      <p:pic>
        <p:nvPicPr>
          <p:cNvPr id="6"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028362" y="19050"/>
            <a:ext cx="1163638"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Date Placeholder 6"/>
          <p:cNvSpPr>
            <a:spLocks noGrp="1"/>
          </p:cNvSpPr>
          <p:nvPr>
            <p:ph type="dt" sz="half" idx="10"/>
          </p:nvPr>
        </p:nvSpPr>
        <p:spPr/>
        <p:txBody>
          <a:bodyPr/>
          <a:lstStyle/>
          <a:p>
            <a:r>
              <a:rPr lang="en-IN"/>
              <a:t>16-10-2026</a:t>
            </a:r>
          </a:p>
        </p:txBody>
      </p:sp>
      <p:pic>
        <p:nvPicPr>
          <p:cNvPr id="8" name="Picture 7" descr="accuracy_progression.png"/>
          <p:cNvPicPr>
            <a:picLocks noChangeAspect="1"/>
          </p:cNvPicPr>
          <p:nvPr/>
        </p:nvPicPr>
        <p:blipFill>
          <a:blip r:embed="rId3"/>
          <a:stretch>
            <a:fillRect/>
          </a:stretch>
        </p:blipFill>
        <p:spPr>
          <a:xfrm>
            <a:off x="838200" y="1846066"/>
            <a:ext cx="7300000" cy="3825519"/>
          </a:xfrm>
          <a:prstGeom prst="rect">
            <a:avLst/>
          </a:prstGeom>
        </p:spPr>
      </p:pic>
      <p:sp>
        <p:nvSpPr>
          <p:cNvPr id="9" name="TextBox 8"/>
          <p:cNvSpPr txBox="1"/>
          <p:nvPr/>
        </p:nvSpPr>
        <p:spPr>
          <a:xfrm>
            <a:off x="8388200" y="1740688"/>
            <a:ext cx="3000000" cy="700000"/>
          </a:xfrm>
          <a:prstGeom prst="rect">
            <a:avLst/>
          </a:prstGeom>
          <a:noFill/>
        </p:spPr>
        <p:txBody>
          <a:bodyPr wrap="square" anchor="t" lIns="0" rIns="0">
            <a:spAutoFit/>
          </a:bodyPr>
          <a:lstStyle/>
          <a:p>
            <a:pPr algn="l"/>
            <a:r>
              <a:rPr sz="4000" b="1">
                <a:solidFill>
                  <a:srgbClr val="1E2761"/>
                </a:solidFill>
              </a:rPr>
              <a:t>99.7%</a:t>
            </a:r>
          </a:p>
        </p:txBody>
      </p:sp>
      <p:sp>
        <p:nvSpPr>
          <p:cNvPr id="10" name="TextBox 9"/>
          <p:cNvSpPr txBox="1"/>
          <p:nvPr/>
        </p:nvSpPr>
        <p:spPr>
          <a:xfrm>
            <a:off x="8388200" y="2460688"/>
            <a:ext cx="3000000" cy="600000"/>
          </a:xfrm>
          <a:prstGeom prst="rect">
            <a:avLst/>
          </a:prstGeom>
          <a:noFill/>
        </p:spPr>
        <p:txBody>
          <a:bodyPr wrap="square" anchor="t" lIns="0" rIns="0">
            <a:spAutoFit/>
          </a:bodyPr>
          <a:lstStyle/>
          <a:p>
            <a:pPr algn="l"/>
            <a:r>
              <a:rPr sz="1400" b="0">
                <a:solidFill>
                  <a:srgbClr val="5B6770"/>
                </a:solidFill>
              </a:rPr>
              <a:t>accuracy (was 96.4%)</a:t>
            </a:r>
          </a:p>
        </p:txBody>
      </p:sp>
      <p:sp>
        <p:nvSpPr>
          <p:cNvPr id="11" name="TextBox 10"/>
          <p:cNvSpPr txBox="1"/>
          <p:nvPr/>
        </p:nvSpPr>
        <p:spPr>
          <a:xfrm>
            <a:off x="8388200" y="3140688"/>
            <a:ext cx="3000000" cy="700000"/>
          </a:xfrm>
          <a:prstGeom prst="rect">
            <a:avLst/>
          </a:prstGeom>
          <a:noFill/>
        </p:spPr>
        <p:txBody>
          <a:bodyPr wrap="square" anchor="t" lIns="0" rIns="0">
            <a:spAutoFit/>
          </a:bodyPr>
          <a:lstStyle/>
          <a:p>
            <a:pPr algn="l"/>
            <a:r>
              <a:rPr sz="4000" b="1">
                <a:solidFill>
                  <a:srgbClr val="0A9396"/>
                </a:solidFill>
              </a:rPr>
              <a:t>0.983</a:t>
            </a:r>
          </a:p>
        </p:txBody>
      </p:sp>
      <p:sp>
        <p:nvSpPr>
          <p:cNvPr id="12" name="TextBox 11"/>
          <p:cNvSpPr txBox="1"/>
          <p:nvPr/>
        </p:nvSpPr>
        <p:spPr>
          <a:xfrm>
            <a:off x="8388200" y="3860688"/>
            <a:ext cx="3000000" cy="600000"/>
          </a:xfrm>
          <a:prstGeom prst="rect">
            <a:avLst/>
          </a:prstGeom>
          <a:noFill/>
        </p:spPr>
        <p:txBody>
          <a:bodyPr wrap="square" anchor="t" lIns="0" rIns="0">
            <a:spAutoFit/>
          </a:bodyPr>
          <a:lstStyle/>
          <a:p>
            <a:pPr algn="l"/>
            <a:r>
              <a:rPr sz="1400" b="0">
                <a:solidFill>
                  <a:srgbClr val="5B6770"/>
                </a:solidFill>
              </a:rPr>
              <a:t>macro F1 (was 0.889)</a:t>
            </a:r>
          </a:p>
        </p:txBody>
      </p:sp>
      <p:sp>
        <p:nvSpPr>
          <p:cNvPr id="13" name="TextBox 12"/>
          <p:cNvSpPr txBox="1"/>
          <p:nvPr/>
        </p:nvSpPr>
        <p:spPr>
          <a:xfrm>
            <a:off x="8388200" y="4540688"/>
            <a:ext cx="2950000" cy="1500000"/>
          </a:xfrm>
          <a:prstGeom prst="rect">
            <a:avLst/>
          </a:prstGeom>
          <a:noFill/>
        </p:spPr>
        <p:txBody>
          <a:bodyPr wrap="square" anchor="t" lIns="0" rIns="0">
            <a:spAutoFit/>
          </a:bodyPr>
          <a:lstStyle/>
          <a:p>
            <a:pPr algn="l"/>
            <a:r>
              <a:rPr sz="1400" b="0">
                <a:solidFill>
                  <a:srgbClr val="5B6770"/>
                </a:solidFill>
              </a:rPr>
              <a:t>Target: ≥ 95% and ≥ 0.95.</a:t>
            </a:r>
          </a:p>
          <a:p>
            <a:pPr algn="l"/>
            <a:r>
              <a:rPr sz="1400" b="0">
                <a:solidFill>
                  <a:srgbClr val="5B6770"/>
                </a:solidFill>
              </a:rPr>
              <a:t>Same result with 3 seeds (0.983–0.985).</a:t>
            </a:r>
          </a:p>
          <a:p>
            <a:pPr algn="l"/>
            <a:r>
              <a:rPr sz="1400" b="0">
                <a:solidFill>
                  <a:srgbClr val="5B6770"/>
                </a:solidFill>
              </a:rPr>
              <a:t>Still 99.7% / 0.979 when trained on only 5% of the data.</a:t>
            </a:r>
          </a:p>
        </p:txBody>
      </p:sp>
    </p:spTree>
    <p:extLst>
      <p:ext uri="{BB962C8B-B14F-4D97-AF65-F5344CB8AC3E}">
        <p14:creationId xmlns:p14="http://schemas.microsoft.com/office/powerpoint/2010/main" val="3399883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Results: Confusion Matrix (Final Classifier)</a:t>
            </a:r>
            <a:endParaRPr lang="en-IN" dirty="0"/>
          </a:p>
        </p:txBody>
      </p:sp>
      <p:sp>
        <p:nvSpPr>
          <p:cNvPr id="4" name="Footer Placeholder 3"/>
          <p:cNvSpPr>
            <a:spLocks noGrp="1"/>
          </p:cNvSpPr>
          <p:nvPr>
            <p:ph type="ftr" sz="quarter" idx="11"/>
          </p:nvPr>
        </p:nvSpPr>
        <p:spPr/>
        <p:txBody>
          <a:bodyPr/>
          <a:lstStyle/>
          <a:p>
            <a:r>
              <a:rPr lang="en-IN"/>
              <a:t>FL-IDS                         Department of CSE, BMSCE</a:t>
            </a:r>
          </a:p>
        </p:txBody>
      </p:sp>
      <p:sp>
        <p:nvSpPr>
          <p:cNvPr id="5" name="Slide Number Placeholder 4"/>
          <p:cNvSpPr>
            <a:spLocks noGrp="1"/>
          </p:cNvSpPr>
          <p:nvPr>
            <p:ph type="sldNum" sz="quarter" idx="12"/>
          </p:nvPr>
        </p:nvSpPr>
        <p:spPr/>
        <p:txBody>
          <a:bodyPr/>
          <a:lstStyle/>
          <a:p>
            <a:fld id="{840E0BF8-4B7D-46FA-B28A-DDF089F57DAF}" type="slidenum">
              <a:rPr lang="en-IN" smtClean="0"/>
              <a:t>10</a:t>
            </a:fld>
            <a:endParaRPr lang="en-IN"/>
          </a:p>
        </p:txBody>
      </p:sp>
      <p:pic>
        <p:nvPicPr>
          <p:cNvPr id="6"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028362" y="19050"/>
            <a:ext cx="1163638"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Date Placeholder 6"/>
          <p:cNvSpPr>
            <a:spLocks noGrp="1"/>
          </p:cNvSpPr>
          <p:nvPr>
            <p:ph type="dt" sz="half" idx="10"/>
          </p:nvPr>
        </p:nvSpPr>
        <p:spPr/>
        <p:txBody>
          <a:bodyPr/>
          <a:lstStyle/>
          <a:p>
            <a:r>
              <a:rPr lang="en-IN"/>
              <a:t>16-10-2026</a:t>
            </a:r>
          </a:p>
        </p:txBody>
      </p:sp>
      <p:pic>
        <p:nvPicPr>
          <p:cNvPr id="8" name="Picture 7" descr="confusion_final.png"/>
          <p:cNvPicPr>
            <a:picLocks noChangeAspect="1"/>
          </p:cNvPicPr>
          <p:nvPr/>
        </p:nvPicPr>
        <p:blipFill>
          <a:blip r:embed="rId3"/>
          <a:stretch>
            <a:fillRect/>
          </a:stretch>
        </p:blipFill>
        <p:spPr>
          <a:xfrm>
            <a:off x="1132497" y="1490688"/>
            <a:ext cx="5511405" cy="4736275"/>
          </a:xfrm>
          <a:prstGeom prst="rect">
            <a:avLst/>
          </a:prstGeom>
        </p:spPr>
      </p:pic>
      <p:sp>
        <p:nvSpPr>
          <p:cNvPr id="9" name="Rounded Rectangle 8"/>
          <p:cNvSpPr/>
          <p:nvPr/>
        </p:nvSpPr>
        <p:spPr>
          <a:xfrm>
            <a:off x="7388200" y="1690688"/>
            <a:ext cx="4165600" cy="410000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50000" rIns="150000" tIns="120000"/>
          <a:lstStyle/>
          <a:p>
            <a:pPr algn="l"/>
            <a:r>
              <a:rPr sz="1600" b="1">
                <a:solidFill>
                  <a:srgbClr val="1E2761"/>
                </a:solidFill>
              </a:rPr>
              <a:t>How to read it</a:t>
            </a:r>
          </a:p>
          <a:p>
            <a:pPr algn="l">
              <a:spcBef>
                <a:spcPts val="500"/>
              </a:spcBef>
            </a:pPr>
            <a:r>
              <a:rPr sz="1400" b="0">
                <a:solidFill>
                  <a:srgbClr val="1B1B1B"/>
                </a:solidFill>
              </a:rPr>
              <a:t>Rows = the real attack, columns = what we predicted. A perfect model is a dark diagonal.</a:t>
            </a:r>
          </a:p>
          <a:p>
            <a:pPr algn="l">
              <a:spcBef>
                <a:spcPts val="500"/>
              </a:spcBef>
            </a:pPr>
            <a:r>
              <a:rPr sz="1400" b="1">
                <a:solidFill>
                  <a:srgbClr val="1B1B1B"/>
                </a:solidFill>
              </a:rPr>
              <a:t>Almost perfect: </a:t>
            </a:r>
            <a:r>
              <a:rPr sz="1400" b="0">
                <a:solidFill>
                  <a:srgbClr val="1B1B1B"/>
                </a:solidFill>
              </a:rPr>
              <a:t>11 of 14 classes are 0.98–1.00.</a:t>
            </a:r>
          </a:p>
          <a:p>
            <a:pPr algn="l">
              <a:spcBef>
                <a:spcPts val="500"/>
              </a:spcBef>
            </a:pPr>
            <a:r>
              <a:rPr sz="1400" b="1">
                <a:solidFill>
                  <a:srgbClr val="1B1B1B"/>
                </a:solidFill>
              </a:rPr>
              <a:t>Small mix-ups: </a:t>
            </a:r>
            <a:r>
              <a:rPr sz="1400" b="0">
                <a:solidFill>
                  <a:srgbClr val="1B1B1B"/>
                </a:solidFill>
              </a:rPr>
              <a:t>Password ↔ DDoS HTTP (both hit the same web server), Ransomware → Backdoor (same port).</a:t>
            </a:r>
          </a:p>
          <a:p>
            <a:pPr algn="l">
              <a:spcBef>
                <a:spcPts val="500"/>
              </a:spcBef>
            </a:pPr>
            <a:r>
              <a:rPr sz="1400" b="0">
                <a:solidFill>
                  <a:srgbClr val="1B1B1B"/>
                </a:solidFill>
              </a:rPr>
              <a:t>MITM is a single connection, so it can't appear in this strict test (random split: F1 0.99).</a:t>
            </a:r>
          </a:p>
        </p:txBody>
      </p:sp>
    </p:spTree>
    <p:extLst>
      <p:ext uri="{BB962C8B-B14F-4D97-AF65-F5344CB8AC3E}">
        <p14:creationId xmlns:p14="http://schemas.microsoft.com/office/powerpoint/2010/main" val="3399883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Results: Every Attack Type Improved</a:t>
            </a:r>
            <a:endParaRPr lang="en-IN" dirty="0"/>
          </a:p>
        </p:txBody>
      </p:sp>
      <p:sp>
        <p:nvSpPr>
          <p:cNvPr id="4" name="Footer Placeholder 3"/>
          <p:cNvSpPr>
            <a:spLocks noGrp="1"/>
          </p:cNvSpPr>
          <p:nvPr>
            <p:ph type="ftr" sz="quarter" idx="11"/>
          </p:nvPr>
        </p:nvSpPr>
        <p:spPr/>
        <p:txBody>
          <a:bodyPr/>
          <a:lstStyle/>
          <a:p>
            <a:r>
              <a:rPr lang="en-IN"/>
              <a:t>FL-IDS                         Department of CSE, BMSCE</a:t>
            </a:r>
          </a:p>
        </p:txBody>
      </p:sp>
      <p:sp>
        <p:nvSpPr>
          <p:cNvPr id="5" name="Slide Number Placeholder 4"/>
          <p:cNvSpPr>
            <a:spLocks noGrp="1"/>
          </p:cNvSpPr>
          <p:nvPr>
            <p:ph type="sldNum" sz="quarter" idx="12"/>
          </p:nvPr>
        </p:nvSpPr>
        <p:spPr/>
        <p:txBody>
          <a:bodyPr/>
          <a:lstStyle/>
          <a:p>
            <a:fld id="{840E0BF8-4B7D-46FA-B28A-DDF089F57DAF}" type="slidenum">
              <a:rPr lang="en-IN" smtClean="0"/>
              <a:t>10</a:t>
            </a:fld>
            <a:endParaRPr lang="en-IN"/>
          </a:p>
        </p:txBody>
      </p:sp>
      <p:pic>
        <p:nvPicPr>
          <p:cNvPr id="6"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028362" y="19050"/>
            <a:ext cx="1163638"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Date Placeholder 6"/>
          <p:cNvSpPr>
            <a:spLocks noGrp="1"/>
          </p:cNvSpPr>
          <p:nvPr>
            <p:ph type="dt" sz="half" idx="10"/>
          </p:nvPr>
        </p:nvSpPr>
        <p:spPr/>
        <p:txBody>
          <a:bodyPr/>
          <a:lstStyle/>
          <a:p>
            <a:r>
              <a:rPr lang="en-IN"/>
              <a:t>16-10-2026</a:t>
            </a:r>
          </a:p>
        </p:txBody>
      </p:sp>
      <p:pic>
        <p:nvPicPr>
          <p:cNvPr id="8" name="Picture 7" descr="per_class_f1.png"/>
          <p:cNvPicPr>
            <a:picLocks noChangeAspect="1"/>
          </p:cNvPicPr>
          <p:nvPr/>
        </p:nvPicPr>
        <p:blipFill>
          <a:blip r:embed="rId3"/>
          <a:stretch>
            <a:fillRect/>
          </a:stretch>
        </p:blipFill>
        <p:spPr>
          <a:xfrm>
            <a:off x="838200" y="1889042"/>
            <a:ext cx="7100000" cy="3839567"/>
          </a:xfrm>
          <a:prstGeom prst="rect">
            <a:avLst/>
          </a:prstGeom>
        </p:spPr>
      </p:pic>
      <p:sp>
        <p:nvSpPr>
          <p:cNvPr id="9" name="TextBox 8"/>
          <p:cNvSpPr txBox="1"/>
          <p:nvPr/>
        </p:nvSpPr>
        <p:spPr>
          <a:xfrm>
            <a:off x="8138200" y="1890688"/>
            <a:ext cx="3215600" cy="3800000"/>
          </a:xfrm>
          <a:prstGeom prst="rect">
            <a:avLst/>
          </a:prstGeom>
          <a:noFill/>
        </p:spPr>
        <p:txBody>
          <a:bodyPr wrap="square" anchor="t" lIns="0" rIns="0">
            <a:spAutoFit/>
          </a:bodyPr>
          <a:lstStyle/>
          <a:p>
            <a:pPr algn="l"/>
            <a:r>
              <a:rPr sz="1500" b="1">
                <a:solidFill>
                  <a:srgbClr val="1B1B1B"/>
                </a:solidFill>
              </a:rPr>
              <a:t>Biggest gains</a:t>
            </a:r>
          </a:p>
          <a:p>
            <a:pPr algn="l"/>
            <a:r>
              <a:rPr sz="1500" b="0">
                <a:solidFill>
                  <a:srgbClr val="1B1B1B"/>
                </a:solidFill>
              </a:rPr>
              <a:t>Uploading 0.76 → 1.00</a:t>
            </a:r>
          </a:p>
          <a:p>
            <a:pPr algn="l"/>
            <a:r>
              <a:rPr sz="1500" b="0">
                <a:solidFill>
                  <a:srgbClr val="1B1B1B"/>
                </a:solidFill>
              </a:rPr>
              <a:t>DDoS HTTP 0.76 → 0.97</a:t>
            </a:r>
          </a:p>
          <a:p>
            <a:pPr algn="l"/>
            <a:r>
              <a:rPr sz="1500" b="0">
                <a:solidFill>
                  <a:srgbClr val="1B1B1B"/>
                </a:solidFill>
              </a:rPr>
              <a:t>SQL injection 0.80 → 1.00</a:t>
            </a:r>
          </a:p>
          <a:p>
            <a:pPr algn="l"/>
            <a:r>
              <a:rPr sz="1500" b="0">
                <a:solidFill>
                  <a:srgbClr val="1B1B1B"/>
                </a:solidFill>
              </a:rPr>
              <a:t>Password 0.84 → 0.97</a:t>
            </a:r>
          </a:p>
          <a:p>
            <a:pPr algn="l"/>
            <a:r>
              <a:rPr sz="1500" b="0">
                <a:solidFill>
                  <a:srgbClr val="1B1B1B"/>
                </a:solidFill>
              </a:rPr>
              <a:t>XSS 0.85 → 0.98</a:t>
            </a:r>
          </a:p>
          <a:p>
            <a:pPr algn="l"/>
            <a:r>
              <a:rPr sz="1500" b="0">
                <a:solidFill>
                  <a:srgbClr val="1B1B1B"/>
                </a:solidFill>
              </a:rPr>
              <a:t>Fingerprinting 0.68 → 0.93</a:t>
            </a:r>
          </a:p>
          <a:p>
            <a:pPr algn="l"/>
            <a:r>
              <a:rPr sz="1500" b="0">
                <a:solidFill>
                  <a:srgbClr val="1B1B1B"/>
                </a:solidFill>
              </a:rPr>
              <a:t/>
            </a:r>
          </a:p>
          <a:p>
            <a:pPr algn="l"/>
            <a:r>
              <a:rPr sz="1500" b="0">
                <a:solidFill>
                  <a:srgbClr val="1B1B1B"/>
                </a:solidFill>
              </a:rPr>
              <a:t>Exactly the web and rare attacks that were weak before.</a:t>
            </a:r>
          </a:p>
        </p:txBody>
      </p:sp>
    </p:spTree>
    <p:extLst>
      <p:ext uri="{BB962C8B-B14F-4D97-AF65-F5344CB8AC3E}">
        <p14:creationId xmlns:p14="http://schemas.microsoft.com/office/powerpoint/2010/main" val="3399883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Results: Catching Attacks Never Seen Before</a:t>
            </a:r>
            <a:endParaRPr lang="en-IN" dirty="0"/>
          </a:p>
        </p:txBody>
      </p:sp>
      <p:sp>
        <p:nvSpPr>
          <p:cNvPr id="4" name="Footer Placeholder 3"/>
          <p:cNvSpPr>
            <a:spLocks noGrp="1"/>
          </p:cNvSpPr>
          <p:nvPr>
            <p:ph type="ftr" sz="quarter" idx="11"/>
          </p:nvPr>
        </p:nvSpPr>
        <p:spPr/>
        <p:txBody>
          <a:bodyPr/>
          <a:lstStyle/>
          <a:p>
            <a:r>
              <a:rPr lang="en-IN"/>
              <a:t>FL-IDS                         Department of CSE, BMSCE</a:t>
            </a:r>
          </a:p>
        </p:txBody>
      </p:sp>
      <p:sp>
        <p:nvSpPr>
          <p:cNvPr id="5" name="Slide Number Placeholder 4"/>
          <p:cNvSpPr>
            <a:spLocks noGrp="1"/>
          </p:cNvSpPr>
          <p:nvPr>
            <p:ph type="sldNum" sz="quarter" idx="12"/>
          </p:nvPr>
        </p:nvSpPr>
        <p:spPr/>
        <p:txBody>
          <a:bodyPr/>
          <a:lstStyle/>
          <a:p>
            <a:fld id="{840E0BF8-4B7D-46FA-B28A-DDF089F57DAF}" type="slidenum">
              <a:rPr lang="en-IN" smtClean="0"/>
              <a:t>10</a:t>
            </a:fld>
            <a:endParaRPr lang="en-IN"/>
          </a:p>
        </p:txBody>
      </p:sp>
      <p:pic>
        <p:nvPicPr>
          <p:cNvPr id="6"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028362" y="19050"/>
            <a:ext cx="1163638"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Date Placeholder 6"/>
          <p:cNvSpPr>
            <a:spLocks noGrp="1"/>
          </p:cNvSpPr>
          <p:nvPr>
            <p:ph type="dt" sz="half" idx="10"/>
          </p:nvPr>
        </p:nvSpPr>
        <p:spPr/>
        <p:txBody>
          <a:bodyPr/>
          <a:lstStyle/>
          <a:p>
            <a:r>
              <a:rPr lang="en-IN"/>
              <a:t>16-10-2026</a:t>
            </a:r>
          </a:p>
        </p:txBody>
      </p:sp>
      <p:pic>
        <p:nvPicPr>
          <p:cNvPr id="8" name="Picture 7" descr="zero_day.png"/>
          <p:cNvPicPr>
            <a:picLocks noChangeAspect="1"/>
          </p:cNvPicPr>
          <p:nvPr/>
        </p:nvPicPr>
        <p:blipFill>
          <a:blip r:embed="rId3"/>
          <a:stretch>
            <a:fillRect/>
          </a:stretch>
        </p:blipFill>
        <p:spPr>
          <a:xfrm>
            <a:off x="838200" y="1949822"/>
            <a:ext cx="6900000" cy="3718006"/>
          </a:xfrm>
          <a:prstGeom prst="rect">
            <a:avLst/>
          </a:prstGeom>
        </p:spPr>
      </p:pic>
      <p:sp>
        <p:nvSpPr>
          <p:cNvPr id="9" name="TextBox 8"/>
          <p:cNvSpPr txBox="1"/>
          <p:nvPr/>
        </p:nvSpPr>
        <p:spPr>
          <a:xfrm>
            <a:off x="7938200" y="1740688"/>
            <a:ext cx="3300000" cy="700000"/>
          </a:xfrm>
          <a:prstGeom prst="rect">
            <a:avLst/>
          </a:prstGeom>
          <a:noFill/>
        </p:spPr>
        <p:txBody>
          <a:bodyPr wrap="square" anchor="t" lIns="0" rIns="0">
            <a:spAutoFit/>
          </a:bodyPr>
          <a:lstStyle/>
          <a:p>
            <a:pPr algn="l"/>
            <a:r>
              <a:rPr sz="4000" b="1">
                <a:solidFill>
                  <a:srgbClr val="0A9396"/>
                </a:solidFill>
              </a:rPr>
              <a:t>0.94</a:t>
            </a:r>
          </a:p>
        </p:txBody>
      </p:sp>
      <p:sp>
        <p:nvSpPr>
          <p:cNvPr id="10" name="TextBox 9"/>
          <p:cNvSpPr txBox="1"/>
          <p:nvPr/>
        </p:nvSpPr>
        <p:spPr>
          <a:xfrm>
            <a:off x="7938200" y="2460688"/>
            <a:ext cx="3300000" cy="600000"/>
          </a:xfrm>
          <a:prstGeom prst="rect">
            <a:avLst/>
          </a:prstGeom>
          <a:noFill/>
        </p:spPr>
        <p:txBody>
          <a:bodyPr wrap="square" anchor="t" lIns="0" rIns="0">
            <a:spAutoFit/>
          </a:bodyPr>
          <a:lstStyle/>
          <a:p>
            <a:pPr algn="l"/>
            <a:r>
              <a:rPr sz="1400" b="0">
                <a:solidFill>
                  <a:srgbClr val="5B6770"/>
                </a:solidFill>
              </a:rPr>
              <a:t>detection with both checks (was 0.74)</a:t>
            </a:r>
          </a:p>
        </p:txBody>
      </p:sp>
      <p:sp>
        <p:nvSpPr>
          <p:cNvPr id="11" name="TextBox 10"/>
          <p:cNvSpPr txBox="1"/>
          <p:nvPr/>
        </p:nvSpPr>
        <p:spPr>
          <a:xfrm>
            <a:off x="7938200" y="3090688"/>
            <a:ext cx="3300000" cy="700000"/>
          </a:xfrm>
          <a:prstGeom prst="rect">
            <a:avLst/>
          </a:prstGeom>
          <a:noFill/>
        </p:spPr>
        <p:txBody>
          <a:bodyPr wrap="square" anchor="t" lIns="0" rIns="0">
            <a:spAutoFit/>
          </a:bodyPr>
          <a:lstStyle/>
          <a:p>
            <a:pPr algn="l"/>
            <a:r>
              <a:rPr sz="4000" b="1">
                <a:solidFill>
                  <a:srgbClr val="1E2761"/>
                </a:solidFill>
              </a:rPr>
              <a:t>0.80</a:t>
            </a:r>
          </a:p>
        </p:txBody>
      </p:sp>
      <p:sp>
        <p:nvSpPr>
          <p:cNvPr id="12" name="TextBox 11"/>
          <p:cNvSpPr txBox="1"/>
          <p:nvPr/>
        </p:nvSpPr>
        <p:spPr>
          <a:xfrm>
            <a:off x="7938200" y="3810688"/>
            <a:ext cx="3300000" cy="600000"/>
          </a:xfrm>
          <a:prstGeom prst="rect">
            <a:avLst/>
          </a:prstGeom>
          <a:noFill/>
        </p:spPr>
        <p:txBody>
          <a:bodyPr wrap="square" anchor="t" lIns="0" rIns="0">
            <a:spAutoFit/>
          </a:bodyPr>
          <a:lstStyle/>
          <a:p>
            <a:pPr algn="l"/>
            <a:r>
              <a:rPr sz="1400" b="0">
                <a:solidFill>
                  <a:srgbClr val="5B6770"/>
                </a:solidFill>
              </a:rPr>
              <a:t>classifier alone (was 0.53)</a:t>
            </a:r>
          </a:p>
        </p:txBody>
      </p:sp>
      <p:sp>
        <p:nvSpPr>
          <p:cNvPr id="13" name="TextBox 12"/>
          <p:cNvSpPr txBox="1"/>
          <p:nvPr/>
        </p:nvSpPr>
        <p:spPr>
          <a:xfrm>
            <a:off x="7938200" y="4440688"/>
            <a:ext cx="3415600" cy="1500000"/>
          </a:xfrm>
          <a:prstGeom prst="rect">
            <a:avLst/>
          </a:prstGeom>
          <a:noFill/>
        </p:spPr>
        <p:txBody>
          <a:bodyPr wrap="square" anchor="t" lIns="0" rIns="0">
            <a:spAutoFit/>
          </a:bodyPr>
          <a:lstStyle/>
          <a:p>
            <a:pPr algn="l"/>
            <a:r>
              <a:rPr sz="1400" b="0">
                <a:solidFill>
                  <a:srgbClr val="5B6770"/>
                </a:solidFill>
              </a:rPr>
              <a:t>Each attack type was hidden from training, then tested.</a:t>
            </a:r>
          </a:p>
          <a:p>
            <a:pPr algn="l"/>
            <a:r>
              <a:rPr sz="1400" b="0">
                <a:solidFill>
                  <a:srgbClr val="5B6770"/>
                </a:solidFill>
              </a:rPr>
              <a:t>Password 0.44 → 0.97, XSS 0.52 → 0.99.</a:t>
            </a:r>
          </a:p>
          <a:p>
            <a:pPr algn="l"/>
            <a:r>
              <a:rPr sz="1400" b="0">
                <a:solidFill>
                  <a:srgbClr val="5B6770"/>
                </a:solidFill>
              </a:rPr>
              <a:t>Worse: MITM 0.89 → 0.69.</a:t>
            </a:r>
          </a:p>
        </p:txBody>
      </p:sp>
    </p:spTree>
    <p:extLst>
      <p:ext uri="{BB962C8B-B14F-4D97-AF65-F5344CB8AC3E}">
        <p14:creationId xmlns:p14="http://schemas.microsoft.com/office/powerpoint/2010/main" val="3399883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Results: Resisting Sabotage</a:t>
            </a:r>
            <a:endParaRPr lang="en-IN" dirty="0"/>
          </a:p>
        </p:txBody>
      </p:sp>
      <p:sp>
        <p:nvSpPr>
          <p:cNvPr id="4" name="Footer Placeholder 3"/>
          <p:cNvSpPr>
            <a:spLocks noGrp="1"/>
          </p:cNvSpPr>
          <p:nvPr>
            <p:ph type="ftr" sz="quarter" idx="11"/>
          </p:nvPr>
        </p:nvSpPr>
        <p:spPr/>
        <p:txBody>
          <a:bodyPr/>
          <a:lstStyle/>
          <a:p>
            <a:r>
              <a:rPr lang="en-IN"/>
              <a:t>FL-IDS                         Department of CSE, BMSCE</a:t>
            </a:r>
          </a:p>
        </p:txBody>
      </p:sp>
      <p:sp>
        <p:nvSpPr>
          <p:cNvPr id="5" name="Slide Number Placeholder 4"/>
          <p:cNvSpPr>
            <a:spLocks noGrp="1"/>
          </p:cNvSpPr>
          <p:nvPr>
            <p:ph type="sldNum" sz="quarter" idx="12"/>
          </p:nvPr>
        </p:nvSpPr>
        <p:spPr/>
        <p:txBody>
          <a:bodyPr/>
          <a:lstStyle/>
          <a:p>
            <a:fld id="{840E0BF8-4B7D-46FA-B28A-DDF089F57DAF}" type="slidenum">
              <a:rPr lang="en-IN" smtClean="0"/>
              <a:t>10</a:t>
            </a:fld>
            <a:endParaRPr lang="en-IN"/>
          </a:p>
        </p:txBody>
      </p:sp>
      <p:pic>
        <p:nvPicPr>
          <p:cNvPr id="6"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028362" y="19050"/>
            <a:ext cx="1163638"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Date Placeholder 6"/>
          <p:cNvSpPr>
            <a:spLocks noGrp="1"/>
          </p:cNvSpPr>
          <p:nvPr>
            <p:ph type="dt" sz="half" idx="10"/>
          </p:nvPr>
        </p:nvSpPr>
        <p:spPr/>
        <p:txBody>
          <a:bodyPr/>
          <a:lstStyle/>
          <a:p>
            <a:r>
              <a:rPr lang="en-IN"/>
              <a:t>16-10-2026</a:t>
            </a:r>
          </a:p>
        </p:txBody>
      </p:sp>
      <p:pic>
        <p:nvPicPr>
          <p:cNvPr id="8" name="Picture 7" descr="poisoning_sweep.png"/>
          <p:cNvPicPr>
            <a:picLocks noChangeAspect="1"/>
          </p:cNvPicPr>
          <p:nvPr/>
        </p:nvPicPr>
        <p:blipFill>
          <a:blip r:embed="rId3"/>
          <a:stretch>
            <a:fillRect/>
          </a:stretch>
        </p:blipFill>
        <p:spPr>
          <a:xfrm>
            <a:off x="2036068" y="1540688"/>
            <a:ext cx="8119863" cy="3000000"/>
          </a:xfrm>
          <a:prstGeom prst="rect">
            <a:avLst/>
          </a:prstGeom>
        </p:spPr>
      </p:pic>
      <p:sp>
        <p:nvSpPr>
          <p:cNvPr id="9" name="Rounded Rectangle 8"/>
          <p:cNvSpPr/>
          <p:nvPr/>
        </p:nvSpPr>
        <p:spPr>
          <a:xfrm>
            <a:off x="838200" y="4640688"/>
            <a:ext cx="10515600" cy="125000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50000" rIns="150000" tIns="120000"/>
          <a:lstStyle/>
          <a:p>
            <a:pPr algn="l"/>
            <a:r>
              <a:rPr sz="1500" b="1">
                <a:solidFill>
                  <a:srgbClr val="1E2761"/>
                </a:solidFill>
              </a:rPr>
              <a:t>What it shows</a:t>
            </a:r>
          </a:p>
          <a:p>
            <a:pPr algn="l">
              <a:spcBef>
                <a:spcPts val="500"/>
              </a:spcBef>
            </a:pPr>
            <a:r>
              <a:rPr sz="1400" b="0">
                <a:solidFill>
                  <a:srgbClr val="1B1B1B"/>
                </a:solidFill>
              </a:rPr>
              <a:t>Detection stays at 99.7–100% with up to 50% malicious sites, and new-attack detection at 90–94% up to 40%. Without the trust check (plain averaging) the anomaly check is ruined at 30%. At 50% attackers become the majority and the check fails, a known limit of this kind of defence.</a:t>
            </a:r>
          </a:p>
        </p:txBody>
      </p:sp>
    </p:spTree>
    <p:extLst>
      <p:ext uri="{BB962C8B-B14F-4D97-AF65-F5344CB8AC3E}">
        <p14:creationId xmlns:p14="http://schemas.microsoft.com/office/powerpoint/2010/main" val="339988347"/>
      </p:ext>
    </p:extLst>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en-US" dirty="0"/>
              <a:t>Results: Scaling Up and Repeating</a:t>
            </a:r>
            <a:endParaRPr lang="en-IN" dirty="0"/>
          </a:p>
        </p:txBody>
      </p:sp>
      <p:sp>
        <p:nvSpPr>
          <p:cNvPr id="4" name="Footer Placeholder 3"/>
          <p:cNvSpPr>
            <a:spLocks noGrp="1"/>
          </p:cNvSpPr>
          <p:nvPr>
            <p:ph type="ftr" sz="quarter" idx="11"/>
          </p:nvPr>
        </p:nvSpPr>
        <p:spPr/>
        <p:txBody>
          <a:bodyPr/>
          <a:lstStyle/>
          <a:p>
            <a:r>
              <a:rPr lang="en-IN"/>
              <a:t>FL-IDS                         Department of CSE, BMSCE</a:t>
            </a:r>
          </a:p>
        </p:txBody>
      </p:sp>
      <p:sp>
        <p:nvSpPr>
          <p:cNvPr id="5" name="Slide Number Placeholder 4"/>
          <p:cNvSpPr>
            <a:spLocks noGrp="1"/>
          </p:cNvSpPr>
          <p:nvPr>
            <p:ph type="sldNum" sz="quarter" idx="12"/>
          </p:nvPr>
        </p:nvSpPr>
        <p:spPr/>
        <p:txBody>
          <a:bodyPr/>
          <a:lstStyle/>
          <a:p>
            <a:fld id="{840E0BF8-4B7D-46FA-B28A-DDF089F57DAF}" type="slidenum">
              <a:rPr lang="en-IN" smtClean="0"/>
              <a:t>10</a:t>
            </a:fld>
            <a:endParaRPr lang="en-IN"/>
          </a:p>
        </p:txBody>
      </p:sp>
      <p:pic>
        <p:nvPicPr>
          <p:cNvPr id="6" name="Picture 5" descr="image.jpeg"/>
          <p:cNvPicPr>
            <a:picLocks noChangeAspect="1"/>
          </p:cNvPicPr>
          <p:nvPr/>
        </p:nvPicPr>
        <p:blipFill>
          <a:blip r:embed="rId2"/>
          <a:stretch>
            <a:fillRect/>
          </a:stretch>
        </p:blipFill>
        <p:spPr>
          <a:xfrm>
            <a:off x="11028362" y="19050"/>
            <a:ext cx="1163638" cy="1144588"/>
          </a:xfrm>
          <a:prstGeom prst="rect">
            <a:avLst/>
          </a:prstGeom>
        </p:spPr>
      </p:pic>
      <p:sp>
        <p:nvSpPr>
          <p:cNvPr id="7" name="Date Placeholder 6"/>
          <p:cNvSpPr>
            <a:spLocks noGrp="1"/>
          </p:cNvSpPr>
          <p:nvPr>
            <p:ph type="dt" sz="half" idx="10"/>
          </p:nvPr>
        </p:nvSpPr>
        <p:spPr/>
        <p:txBody>
          <a:bodyPr/>
          <a:lstStyle/>
          <a:p>
            <a:r>
              <a:rPr lang="en-IN"/>
              <a:t>16-10-2026</a:t>
            </a:r>
          </a:p>
        </p:txBody>
      </p:sp>
      <p:pic>
        <p:nvPicPr>
          <p:cNvPr id="8" name="Picture 7" descr="image.png"/>
          <p:cNvPicPr>
            <a:picLocks noChangeAspect="1"/>
          </p:cNvPicPr>
          <p:nvPr/>
        </p:nvPicPr>
        <p:blipFill>
          <a:blip r:embed="rId3"/>
          <a:stretch>
            <a:fillRect/>
          </a:stretch>
        </p:blipFill>
        <p:spPr>
          <a:xfrm>
            <a:off x="2036068" y="1540688"/>
            <a:ext cx="8119863" cy="3000000"/>
          </a:xfrm>
          <a:prstGeom prst="rect">
            <a:avLst/>
          </a:prstGeom>
        </p:spPr>
      </p:pic>
      <p:sp>
        <p:nvSpPr>
          <p:cNvPr id="9" name="Rounded Rectangle 8"/>
          <p:cNvSpPr/>
          <p:nvPr/>
        </p:nvSpPr>
        <p:spPr>
          <a:xfrm>
            <a:off x="838200" y="4640688"/>
            <a:ext cx="10515600" cy="125000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50000" rIns="150000" tIns="120000"/>
          <a:lstStyle/>
          <a:p>
            <a:pPr algn="l"/>
            <a:r>
              <a:rPr sz="1500" b="1">
                <a:solidFill>
                  <a:srgbClr val="1E2761"/>
                </a:solidFill>
              </a:rPr>
              <a:t>What it shows</a:t>
            </a:r>
          </a:p>
          <a:p>
            <a:pPr algn="l">
              <a:spcBef>
                <a:spcPts val="500"/>
              </a:spcBef>
            </a:pPr>
            <a:r>
              <a:rPr sz="1400" b="0">
                <a:solidFill>
                  <a:srgbClr val="1B1B1B"/>
                </a:solidFill>
              </a:rPr>
              <a:t>Real runs, not a simulation: 10 and 20 separate client processes, three seeds each. Attacks caught on average: 0.998 with 10 sites and 0.992 with 20; false alarms stay at 2.8–4.0%. One 20-site run (seed 42) dips to 0.978 and is not yet explained.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Results: Live Demo (Detect and Block)</a:t>
            </a:r>
            <a:endParaRPr lang="en-IN" dirty="0"/>
          </a:p>
        </p:txBody>
      </p:sp>
      <p:sp>
        <p:nvSpPr>
          <p:cNvPr id="4" name="Footer Placeholder 3"/>
          <p:cNvSpPr>
            <a:spLocks noGrp="1"/>
          </p:cNvSpPr>
          <p:nvPr>
            <p:ph type="ftr" sz="quarter" idx="11"/>
          </p:nvPr>
        </p:nvSpPr>
        <p:spPr/>
        <p:txBody>
          <a:bodyPr/>
          <a:lstStyle/>
          <a:p>
            <a:r>
              <a:rPr lang="en-IN"/>
              <a:t>FL-IDS                         Department of CSE, BMSCE</a:t>
            </a:r>
          </a:p>
        </p:txBody>
      </p:sp>
      <p:sp>
        <p:nvSpPr>
          <p:cNvPr id="5" name="Slide Number Placeholder 4"/>
          <p:cNvSpPr>
            <a:spLocks noGrp="1"/>
          </p:cNvSpPr>
          <p:nvPr>
            <p:ph type="sldNum" sz="quarter" idx="12"/>
          </p:nvPr>
        </p:nvSpPr>
        <p:spPr/>
        <p:txBody>
          <a:bodyPr/>
          <a:lstStyle/>
          <a:p>
            <a:fld id="{840E0BF8-4B7D-46FA-B28A-DDF089F57DAF}" type="slidenum">
              <a:rPr lang="en-IN" smtClean="0"/>
              <a:t>10</a:t>
            </a:fld>
            <a:endParaRPr lang="en-IN"/>
          </a:p>
        </p:txBody>
      </p:sp>
      <p:pic>
        <p:nvPicPr>
          <p:cNvPr id="6"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028362" y="19050"/>
            <a:ext cx="1163638"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Date Placeholder 6"/>
          <p:cNvSpPr>
            <a:spLocks noGrp="1"/>
          </p:cNvSpPr>
          <p:nvPr>
            <p:ph type="dt" sz="half" idx="10"/>
          </p:nvPr>
        </p:nvSpPr>
        <p:spPr/>
        <p:txBody>
          <a:bodyPr/>
          <a:lstStyle/>
          <a:p>
            <a:r>
              <a:rPr lang="en-IN"/>
              <a:t>16-10-2026</a:t>
            </a:r>
          </a:p>
        </p:txBody>
      </p:sp>
      <p:sp>
        <p:nvSpPr>
          <p:cNvPr id="8" name="Rounded Rectangle 7"/>
          <p:cNvSpPr/>
          <p:nvPr/>
        </p:nvSpPr>
        <p:spPr>
          <a:xfrm>
            <a:off x="838200" y="1740688"/>
            <a:ext cx="2463900" cy="190000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50000" rIns="150000" tIns="120000"/>
          <a:lstStyle/>
          <a:p>
            <a:pPr algn="l"/>
            <a:r>
              <a:rPr sz="1600" b="1">
                <a:solidFill>
                  <a:srgbClr val="5B6770"/>
                </a:solidFill>
              </a:rPr>
              <a:t> </a:t>
            </a:r>
          </a:p>
          <a:p>
            <a:pPr algn="l">
              <a:spcBef>
                <a:spcPts val="500"/>
              </a:spcBef>
            </a:pPr>
            <a:r>
              <a:rPr sz="1400" b="0">
                <a:solidFill>
                  <a:srgbClr val="1B1B1B"/>
                </a:solidFill>
              </a:rPr>
              <a:t>real Backdoor attack capture, 24,914 packets, into the emulated network</a:t>
            </a:r>
          </a:p>
        </p:txBody>
      </p:sp>
      <p:sp>
        <p:nvSpPr>
          <p:cNvPr id="9" name="TextBox 8"/>
          <p:cNvSpPr txBox="1"/>
          <p:nvPr/>
        </p:nvSpPr>
        <p:spPr>
          <a:xfrm>
            <a:off x="1418200" y="1810688"/>
            <a:ext cx="1783900" cy="450000"/>
          </a:xfrm>
          <a:prstGeom prst="rect">
            <a:avLst/>
          </a:prstGeom>
          <a:noFill/>
        </p:spPr>
        <p:txBody>
          <a:bodyPr wrap="square" anchor="ctr" lIns="0" rIns="0">
            <a:spAutoFit/>
          </a:bodyPr>
          <a:lstStyle/>
          <a:p>
            <a:pPr algn="l"/>
            <a:r>
              <a:rPr sz="1600" b="1">
                <a:solidFill>
                  <a:srgbClr val="5B6770"/>
                </a:solidFill>
              </a:rPr>
              <a:t>Replay</a:t>
            </a:r>
          </a:p>
        </p:txBody>
      </p:sp>
      <p:sp>
        <p:nvSpPr>
          <p:cNvPr id="10" name="Oval 9"/>
          <p:cNvSpPr/>
          <p:nvPr/>
        </p:nvSpPr>
        <p:spPr>
          <a:xfrm>
            <a:off x="948200" y="1835688"/>
            <a:ext cx="380000" cy="380000"/>
          </a:xfrm>
          <a:prstGeom prst="ellipse">
            <a:avLst/>
          </a:prstGeom>
          <a:solidFill>
            <a:srgbClr val="5B677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rPr>
              <a:t>1</a:t>
            </a:r>
          </a:p>
        </p:txBody>
      </p:sp>
      <p:cxnSp>
        <p:nvCxnSpPr>
          <p:cNvPr id="11" name="Connector 10"/>
          <p:cNvCxnSpPr/>
          <p:nvPr/>
        </p:nvCxnSpPr>
        <p:spPr>
          <a:xfrm>
            <a:off x="3312100" y="2690688"/>
            <a:ext cx="200000" cy="0"/>
          </a:xfrm>
          <a:prstGeom prst="line">
            <a:avLst/>
          </a:prstGeom>
          <a:ln w="25400">
            <a:solidFill>
              <a:srgbClr val="5B67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522100" y="1740688"/>
            <a:ext cx="2463900" cy="1900000"/>
          </a:xfrm>
          <a:prstGeom prst="roundRect">
            <a:avLst>
              <a:gd name="adj" fmla="val 6000"/>
            </a:avLst>
          </a:prstGeom>
          <a:solidFill>
            <a:srgbClr val="E3E7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50000" rIns="150000" tIns="120000"/>
          <a:lstStyle/>
          <a:p>
            <a:pPr algn="l"/>
            <a:r>
              <a:rPr sz="1600" b="1">
                <a:solidFill>
                  <a:srgbClr val="1E2761"/>
                </a:solidFill>
              </a:rPr>
              <a:t> </a:t>
            </a:r>
          </a:p>
          <a:p>
            <a:pPr algn="l">
              <a:spcBef>
                <a:spcPts val="500"/>
              </a:spcBef>
            </a:pPr>
            <a:r>
              <a:rPr sz="1400" b="0">
                <a:solidFill>
                  <a:srgbClr val="1B1B1B"/>
                </a:solidFill>
              </a:rPr>
              <a:t>classified as Backdoor with 99.7% confidence</a:t>
            </a:r>
          </a:p>
        </p:txBody>
      </p:sp>
      <p:sp>
        <p:nvSpPr>
          <p:cNvPr id="13" name="TextBox 12"/>
          <p:cNvSpPr txBox="1"/>
          <p:nvPr/>
        </p:nvSpPr>
        <p:spPr>
          <a:xfrm>
            <a:off x="4102100" y="1810688"/>
            <a:ext cx="1783900" cy="450000"/>
          </a:xfrm>
          <a:prstGeom prst="rect">
            <a:avLst/>
          </a:prstGeom>
          <a:noFill/>
        </p:spPr>
        <p:txBody>
          <a:bodyPr wrap="square" anchor="ctr" lIns="0" rIns="0">
            <a:spAutoFit/>
          </a:bodyPr>
          <a:lstStyle/>
          <a:p>
            <a:pPr algn="l"/>
            <a:r>
              <a:rPr sz="1600" b="1">
                <a:solidFill>
                  <a:srgbClr val="1E2761"/>
                </a:solidFill>
              </a:rPr>
              <a:t>Detect</a:t>
            </a:r>
          </a:p>
        </p:txBody>
      </p:sp>
      <p:sp>
        <p:nvSpPr>
          <p:cNvPr id="14" name="Oval 13"/>
          <p:cNvSpPr/>
          <p:nvPr/>
        </p:nvSpPr>
        <p:spPr>
          <a:xfrm>
            <a:off x="3632100" y="1835688"/>
            <a:ext cx="380000" cy="38000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rPr>
              <a:t>2</a:t>
            </a:r>
          </a:p>
        </p:txBody>
      </p:sp>
      <p:cxnSp>
        <p:nvCxnSpPr>
          <p:cNvPr id="15" name="Connector 14"/>
          <p:cNvCxnSpPr/>
          <p:nvPr/>
        </p:nvCxnSpPr>
        <p:spPr>
          <a:xfrm>
            <a:off x="5996000" y="2690688"/>
            <a:ext cx="200000" cy="0"/>
          </a:xfrm>
          <a:prstGeom prst="line">
            <a:avLst/>
          </a:prstGeom>
          <a:ln w="25400">
            <a:solidFill>
              <a:srgbClr val="5B67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206000" y="1740688"/>
            <a:ext cx="2463900" cy="1900000"/>
          </a:xfrm>
          <a:prstGeom prst="roundRect">
            <a:avLst>
              <a:gd name="adj" fmla="val 6000"/>
            </a:avLst>
          </a:prstGeom>
          <a:solidFill>
            <a:srgbClr val="FBF0D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50000" rIns="150000" tIns="120000"/>
          <a:lstStyle/>
          <a:p>
            <a:pPr algn="l"/>
            <a:r>
              <a:rPr sz="1600" b="1">
                <a:solidFill>
                  <a:srgbClr val="C98A0B"/>
                </a:solidFill>
              </a:rPr>
              <a:t> </a:t>
            </a:r>
          </a:p>
          <a:p>
            <a:pPr algn="l">
              <a:spcBef>
                <a:spcPts val="500"/>
              </a:spcBef>
            </a:pPr>
            <a:r>
              <a:rPr sz="1400" b="0">
                <a:solidFill>
                  <a:srgbClr val="1B1B1B"/>
                </a:solidFill>
              </a:rPr>
              <a:t>confidence ≥ 85% → block</a:t>
            </a:r>
          </a:p>
        </p:txBody>
      </p:sp>
      <p:sp>
        <p:nvSpPr>
          <p:cNvPr id="17" name="TextBox 16"/>
          <p:cNvSpPr txBox="1"/>
          <p:nvPr/>
        </p:nvSpPr>
        <p:spPr>
          <a:xfrm>
            <a:off x="6786000" y="1810688"/>
            <a:ext cx="1783900" cy="450000"/>
          </a:xfrm>
          <a:prstGeom prst="rect">
            <a:avLst/>
          </a:prstGeom>
          <a:noFill/>
        </p:spPr>
        <p:txBody>
          <a:bodyPr wrap="square" anchor="ctr" lIns="0" rIns="0">
            <a:spAutoFit/>
          </a:bodyPr>
          <a:lstStyle/>
          <a:p>
            <a:pPr algn="l"/>
            <a:r>
              <a:rPr sz="1600" b="1">
                <a:solidFill>
                  <a:srgbClr val="C98A0B"/>
                </a:solidFill>
              </a:rPr>
              <a:t>Decide</a:t>
            </a:r>
          </a:p>
        </p:txBody>
      </p:sp>
      <p:sp>
        <p:nvSpPr>
          <p:cNvPr id="18" name="Oval 17"/>
          <p:cNvSpPr/>
          <p:nvPr/>
        </p:nvSpPr>
        <p:spPr>
          <a:xfrm>
            <a:off x="6316000" y="1835688"/>
            <a:ext cx="380000" cy="380000"/>
          </a:xfrm>
          <a:prstGeom prst="ellipse">
            <a:avLst/>
          </a:prstGeom>
          <a:solidFill>
            <a:srgbClr val="C98A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rPr>
              <a:t>3</a:t>
            </a:r>
          </a:p>
        </p:txBody>
      </p:sp>
      <p:cxnSp>
        <p:nvCxnSpPr>
          <p:cNvPr id="19" name="Connector 18"/>
          <p:cNvCxnSpPr/>
          <p:nvPr/>
        </p:nvCxnSpPr>
        <p:spPr>
          <a:xfrm>
            <a:off x="8679900" y="2690688"/>
            <a:ext cx="200000" cy="0"/>
          </a:xfrm>
          <a:prstGeom prst="line">
            <a:avLst/>
          </a:prstGeom>
          <a:ln w="25400">
            <a:solidFill>
              <a:srgbClr val="5B67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889900" y="1740688"/>
            <a:ext cx="2463900" cy="1900000"/>
          </a:xfrm>
          <a:prstGeom prst="roundRect">
            <a:avLst>
              <a:gd name="adj" fmla="val 6000"/>
            </a:avLst>
          </a:prstGeom>
          <a:solidFill>
            <a:srgbClr val="F9E1E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50000" rIns="150000" tIns="120000"/>
          <a:lstStyle/>
          <a:p>
            <a:pPr algn="l"/>
            <a:r>
              <a:rPr sz="1600" b="1">
                <a:solidFill>
                  <a:srgbClr val="D64550"/>
                </a:solidFill>
              </a:rPr>
              <a:t> </a:t>
            </a:r>
          </a:p>
          <a:p>
            <a:pPr algn="l">
              <a:spcBef>
                <a:spcPts val="500"/>
              </a:spcBef>
            </a:pPr>
            <a:r>
              <a:rPr sz="1400" b="0">
                <a:solidFill>
                  <a:srgbClr val="1B1B1B"/>
                </a:solidFill>
              </a:rPr>
              <a:t>drop rule installed on the switch and read back to confirm</a:t>
            </a:r>
          </a:p>
        </p:txBody>
      </p:sp>
      <p:sp>
        <p:nvSpPr>
          <p:cNvPr id="21" name="TextBox 20"/>
          <p:cNvSpPr txBox="1"/>
          <p:nvPr/>
        </p:nvSpPr>
        <p:spPr>
          <a:xfrm>
            <a:off x="9469900" y="1810688"/>
            <a:ext cx="1783900" cy="450000"/>
          </a:xfrm>
          <a:prstGeom prst="rect">
            <a:avLst/>
          </a:prstGeom>
          <a:noFill/>
        </p:spPr>
        <p:txBody>
          <a:bodyPr wrap="square" anchor="ctr" lIns="0" rIns="0">
            <a:spAutoFit/>
          </a:bodyPr>
          <a:lstStyle/>
          <a:p>
            <a:pPr algn="l"/>
            <a:r>
              <a:rPr sz="1600" b="1">
                <a:solidFill>
                  <a:srgbClr val="D64550"/>
                </a:solidFill>
              </a:rPr>
              <a:t>Block</a:t>
            </a:r>
          </a:p>
        </p:txBody>
      </p:sp>
      <p:sp>
        <p:nvSpPr>
          <p:cNvPr id="22" name="Oval 21"/>
          <p:cNvSpPr/>
          <p:nvPr/>
        </p:nvSpPr>
        <p:spPr>
          <a:xfrm>
            <a:off x="8999900" y="1835688"/>
            <a:ext cx="380000" cy="380000"/>
          </a:xfrm>
          <a:prstGeom prst="ellipse">
            <a:avLst/>
          </a:prstGeom>
          <a:solidFill>
            <a:srgbClr val="D6455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rPr>
              <a:t>4</a:t>
            </a:r>
          </a:p>
        </p:txBody>
      </p:sp>
      <p:sp>
        <p:nvSpPr>
          <p:cNvPr id="23" name="Rounded Rectangle 22"/>
          <p:cNvSpPr/>
          <p:nvPr/>
        </p:nvSpPr>
        <p:spPr>
          <a:xfrm>
            <a:off x="838200" y="3890688"/>
            <a:ext cx="10515600" cy="90000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50000" rIns="150000" tIns="120000"/>
          <a:lstStyle/>
          <a:p>
            <a:pPr algn="l"/>
            <a:r>
              <a:rPr sz="1500" b="1">
                <a:solidFill>
                  <a:srgbClr val="D64550"/>
                </a:solidFill>
              </a:rPr>
              <a:t>Rule on the switch</a:t>
            </a:r>
          </a:p>
          <a:p>
            <a:pPr algn="l">
              <a:spcBef>
                <a:spcPts val="500"/>
              </a:spcBef>
            </a:pPr>
            <a:r>
              <a:rPr sz="1600" b="0">
                <a:solidFill>
                  <a:srgbClr val="1B1B1B"/>
                </a:solidFill>
              </a:rPr>
              <a:t>priority=100, ip, nw_src=10.0.0.1  actions=drop</a:t>
            </a:r>
          </a:p>
        </p:txBody>
      </p:sp>
      <p:sp>
        <p:nvSpPr>
          <p:cNvPr id="24" name="TextBox 23"/>
          <p:cNvSpPr txBox="1"/>
          <p:nvPr/>
        </p:nvSpPr>
        <p:spPr>
          <a:xfrm>
            <a:off x="838200" y="4940688"/>
            <a:ext cx="10515600" cy="900000"/>
          </a:xfrm>
          <a:prstGeom prst="rect">
            <a:avLst/>
          </a:prstGeom>
          <a:noFill/>
        </p:spPr>
        <p:txBody>
          <a:bodyPr wrap="square" anchor="t" lIns="0" rIns="0">
            <a:spAutoFit/>
          </a:bodyPr>
          <a:lstStyle/>
          <a:p>
            <a:pPr algn="l"/>
            <a:r>
              <a:rPr sz="1400" b="0">
                <a:solidFill>
                  <a:srgbClr val="5B6770"/>
                </a:solidFill>
              </a:rPr>
              <a:t>Real 10-site federated run: 0.999 attack detection (was 0.889), 3.5% false alarms. 24,669 of 24,914 packets flagged.  Limitation: the decision is made after the capture is analysed, not packet by packet.</a:t>
            </a:r>
          </a:p>
        </p:txBody>
      </p:sp>
    </p:spTree>
    <p:extLst>
      <p:ext uri="{BB962C8B-B14F-4D97-AF65-F5344CB8AC3E}">
        <p14:creationId xmlns:p14="http://schemas.microsoft.com/office/powerpoint/2010/main" val="339988347"/>
      </p:ext>
    </p:extLst>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en-US" dirty="0"/>
              <a:t>Results: One Whole Run, Timed</a:t>
            </a:r>
            <a:endParaRPr lang="en-IN" dirty="0"/>
          </a:p>
        </p:txBody>
      </p:sp>
      <p:sp>
        <p:nvSpPr>
          <p:cNvPr id="4" name="Footer Placeholder 3"/>
          <p:cNvSpPr>
            <a:spLocks noGrp="1"/>
          </p:cNvSpPr>
          <p:nvPr>
            <p:ph type="ftr" sz="quarter" idx="11"/>
          </p:nvPr>
        </p:nvSpPr>
        <p:spPr/>
        <p:txBody>
          <a:bodyPr/>
          <a:lstStyle/>
          <a:p>
            <a:r>
              <a:rPr lang="en-IN"/>
              <a:t>FL-IDS                         Department of CSE, BMSCE</a:t>
            </a:r>
          </a:p>
        </p:txBody>
      </p:sp>
      <p:sp>
        <p:nvSpPr>
          <p:cNvPr id="5" name="Slide Number Placeholder 4"/>
          <p:cNvSpPr>
            <a:spLocks noGrp="1"/>
          </p:cNvSpPr>
          <p:nvPr>
            <p:ph type="sldNum" sz="quarter" idx="12"/>
          </p:nvPr>
        </p:nvSpPr>
        <p:spPr/>
        <p:txBody>
          <a:bodyPr/>
          <a:lstStyle/>
          <a:p>
            <a:fld id="{840E0BF8-4B7D-46FA-B28A-DDF089F57DAF}" type="slidenum">
              <a:rPr lang="en-IN" smtClean="0"/>
              <a:t>10</a:t>
            </a:fld>
            <a:endParaRPr lang="en-IN"/>
          </a:p>
        </p:txBody>
      </p:sp>
      <p:pic>
        <p:nvPicPr>
          <p:cNvPr id="6" name="Picture 5" descr="image.jpeg"/>
          <p:cNvPicPr>
            <a:picLocks noChangeAspect="1"/>
          </p:cNvPicPr>
          <p:nvPr/>
        </p:nvPicPr>
        <p:blipFill>
          <a:blip r:embed="rId2"/>
          <a:stretch>
            <a:fillRect/>
          </a:stretch>
        </p:blipFill>
        <p:spPr>
          <a:xfrm>
            <a:off x="11028362" y="19050"/>
            <a:ext cx="1163638" cy="1144588"/>
          </a:xfrm>
          <a:prstGeom prst="rect">
            <a:avLst/>
          </a:prstGeom>
        </p:spPr>
      </p:pic>
      <p:sp>
        <p:nvSpPr>
          <p:cNvPr id="7" name="Date Placeholder 6"/>
          <p:cNvSpPr>
            <a:spLocks noGrp="1"/>
          </p:cNvSpPr>
          <p:nvPr>
            <p:ph type="dt" sz="half" idx="10"/>
          </p:nvPr>
        </p:nvSpPr>
        <p:spPr/>
        <p:txBody>
          <a:bodyPr/>
          <a:lstStyle/>
          <a:p>
            <a:r>
              <a:rPr lang="en-IN"/>
              <a:t>16-10-2026</a:t>
            </a:r>
          </a:p>
        </p:txBody>
      </p:sp>
      <p:pic>
        <p:nvPicPr>
          <p:cNvPr id="8" name="Picture 7" descr="image.png"/>
          <p:cNvPicPr>
            <a:picLocks noChangeAspect="1"/>
          </p:cNvPicPr>
          <p:nvPr/>
        </p:nvPicPr>
        <p:blipFill>
          <a:blip r:embed="rId3"/>
          <a:stretch>
            <a:fillRect/>
          </a:stretch>
        </p:blipFill>
        <p:spPr>
          <a:xfrm>
            <a:off x="2036068" y="1540688"/>
            <a:ext cx="8119863" cy="3000000"/>
          </a:xfrm>
          <a:prstGeom prst="rect">
            <a:avLst/>
          </a:prstGeom>
        </p:spPr>
      </p:pic>
      <p:sp>
        <p:nvSpPr>
          <p:cNvPr id="9" name="Rounded Rectangle 8"/>
          <p:cNvSpPr/>
          <p:nvPr/>
        </p:nvSpPr>
        <p:spPr>
          <a:xfrm>
            <a:off x="838200" y="4640688"/>
            <a:ext cx="10515600" cy="125000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50000" rIns="150000" tIns="120000"/>
          <a:lstStyle/>
          <a:p>
            <a:pPr algn="l"/>
            <a:r>
              <a:rPr sz="1500" b="1">
                <a:solidFill>
                  <a:srgbClr val="1E2761"/>
                </a:solidFill>
              </a:rPr>
              <a:t>What it shows</a:t>
            </a:r>
          </a:p>
          <a:p>
            <a:pPr algn="l">
              <a:spcBef>
                <a:spcPts val="500"/>
              </a:spcBef>
            </a:pPr>
            <a:r>
              <a:rPr sz="1400" b="0">
                <a:solidFill>
                  <a:srgbClr val="1B1B1B"/>
                </a:solidFill>
              </a:rPr>
              <a:t>A complete run, from raw data to a block rule on the switch, took about 219 seconds. Training the shared model is almost all of it; once a model exists, spotting and blocking an attack takes seconds.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en-US" dirty="0"/>
              <a:t>Results: Pruning and Smarter Attackers</a:t>
            </a:r>
            <a:endParaRPr lang="en-IN" dirty="0"/>
          </a:p>
        </p:txBody>
      </p:sp>
      <p:sp>
        <p:nvSpPr>
          <p:cNvPr id="4" name="Footer Placeholder 3"/>
          <p:cNvSpPr>
            <a:spLocks noGrp="1"/>
          </p:cNvSpPr>
          <p:nvPr>
            <p:ph type="ftr" sz="quarter" idx="11"/>
          </p:nvPr>
        </p:nvSpPr>
        <p:spPr/>
        <p:txBody>
          <a:bodyPr/>
          <a:lstStyle/>
          <a:p>
            <a:r>
              <a:rPr lang="en-IN"/>
              <a:t>FL-IDS                         Department of CSE, BMSCE</a:t>
            </a:r>
          </a:p>
        </p:txBody>
      </p:sp>
      <p:sp>
        <p:nvSpPr>
          <p:cNvPr id="5" name="Slide Number Placeholder 4"/>
          <p:cNvSpPr>
            <a:spLocks noGrp="1"/>
          </p:cNvSpPr>
          <p:nvPr>
            <p:ph type="sldNum" sz="quarter" idx="12"/>
          </p:nvPr>
        </p:nvSpPr>
        <p:spPr/>
        <p:txBody>
          <a:bodyPr/>
          <a:lstStyle/>
          <a:p>
            <a:fld id="{840E0BF8-4B7D-46FA-B28A-DDF089F57DAF}" type="slidenum">
              <a:rPr lang="en-IN" smtClean="0"/>
              <a:t>10</a:t>
            </a:fld>
            <a:endParaRPr lang="en-IN"/>
          </a:p>
        </p:txBody>
      </p:sp>
      <p:pic>
        <p:nvPicPr>
          <p:cNvPr id="6" name="Picture 5" descr="image.jpeg"/>
          <p:cNvPicPr>
            <a:picLocks noChangeAspect="1"/>
          </p:cNvPicPr>
          <p:nvPr/>
        </p:nvPicPr>
        <p:blipFill>
          <a:blip r:embed="rId2"/>
          <a:stretch>
            <a:fillRect/>
          </a:stretch>
        </p:blipFill>
        <p:spPr>
          <a:xfrm>
            <a:off x="11028362" y="19050"/>
            <a:ext cx="1163638" cy="1144588"/>
          </a:xfrm>
          <a:prstGeom prst="rect">
            <a:avLst/>
          </a:prstGeom>
        </p:spPr>
      </p:pic>
      <p:sp>
        <p:nvSpPr>
          <p:cNvPr id="7" name="Date Placeholder 6"/>
          <p:cNvSpPr>
            <a:spLocks noGrp="1"/>
          </p:cNvSpPr>
          <p:nvPr>
            <p:ph type="dt" sz="half" idx="10"/>
          </p:nvPr>
        </p:nvSpPr>
        <p:spPr/>
        <p:txBody>
          <a:bodyPr/>
          <a:lstStyle/>
          <a:p>
            <a:r>
              <a:rPr lang="en-IN"/>
              <a:t>16-10-2026</a:t>
            </a:r>
          </a:p>
        </p:txBody>
      </p:sp>
      <p:pic>
        <p:nvPicPr>
          <p:cNvPr id="8" name="Picture 7" descr="image.png"/>
          <p:cNvPicPr>
            <a:picLocks noChangeAspect="1"/>
          </p:cNvPicPr>
          <p:nvPr/>
        </p:nvPicPr>
        <p:blipFill>
          <a:blip r:embed="rId3"/>
          <a:stretch>
            <a:fillRect/>
          </a:stretch>
        </p:blipFill>
        <p:spPr>
          <a:xfrm>
            <a:off x="2036068" y="1540688"/>
            <a:ext cx="8119863" cy="3000000"/>
          </a:xfrm>
          <a:prstGeom prst="rect">
            <a:avLst/>
          </a:prstGeom>
        </p:spPr>
      </p:pic>
      <p:sp>
        <p:nvSpPr>
          <p:cNvPr id="9" name="Rounded Rectangle 8"/>
          <p:cNvSpPr/>
          <p:nvPr/>
        </p:nvSpPr>
        <p:spPr>
          <a:xfrm>
            <a:off x="838200" y="4640688"/>
            <a:ext cx="10515600" cy="125000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50000" rIns="150000" tIns="120000"/>
          <a:lstStyle/>
          <a:p>
            <a:pPr algn="l"/>
            <a:r>
              <a:rPr sz="1500" b="1">
                <a:solidFill>
                  <a:srgbClr val="1E2761"/>
                </a:solidFill>
              </a:rPr>
              <a:t>What it shows</a:t>
            </a:r>
          </a:p>
          <a:p>
            <a:pPr algn="l">
              <a:spcBef>
                <a:spcPts val="500"/>
              </a:spcBef>
            </a:pPr>
            <a:r>
              <a:rPr sz="1400" b="0">
                <a:solidFill>
                  <a:srgbClr val="1B1B1B"/>
                </a:solidFill>
              </a:rPr>
              <a:t>Removing 70% of the detector's weights costs little if done while training (backstop recall 0.74 to 0.69), but ruins it if done afterwards. A smarter attacker slips past the filter most of the time, though known attacks are still caught. Across 3 seeds, new-attack detection stays 0.94–0.95.</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Conclusion</a:t>
            </a:r>
          </a:p>
        </p:txBody>
      </p:sp>
      <p:sp>
        <p:nvSpPr>
          <p:cNvPr id="3" name="Content Placeholder 2"/>
          <p:cNvSpPr>
            <a:spLocks noGrp="1"/>
          </p:cNvSpPr>
          <p:nvPr>
            <p:ph idx="1"/>
          </p:nvPr>
        </p:nvSpPr>
        <p:spPr/>
        <p:txBody>
          <a:bodyPr wrap="square"/>
          <a:lstStyle/>
          <a:p>
            <a:pPr>
              <a:spcAft>
                <a:spcPts val="800"/>
              </a:spcAft>
            </a:pPr>
            <a:r>
              <a:rPr sz="1800" b="1"/>
              <a:t>Accuracy target met: </a:t>
            </a:r>
            <a:r>
              <a:rPr sz="1800" b="0"/>
              <a:t>99.7% accuracy and 0.983 macro F1 on 397k unseen packets (was 96.4% / 0.889)</a:t>
            </a:r>
            <a:endParaRPr lang="en-IN"/>
          </a:p>
          <a:p>
            <a:pPr>
              <a:spcAft>
                <a:spcPts val="800"/>
              </a:spcAft>
            </a:pPr>
            <a:r>
              <a:rPr sz="1800" b="1"/>
              <a:t>Whole system improved: </a:t>
            </a:r>
            <a:r>
              <a:rPr sz="1800" b="0"/>
              <a:t>real 10-site run 0.999 detection (was 0.889)</a:t>
            </a:r>
          </a:p>
          <a:p>
            <a:pPr>
              <a:spcAft>
                <a:spcPts val="800"/>
              </a:spcAft>
            </a:pPr>
            <a:r>
              <a:rPr sz="1800" b="1"/>
              <a:t>Catches new attacks: </a:t>
            </a:r>
            <a:r>
              <a:rPr sz="1800" b="0"/>
              <a:t>0.94 vs 0.80 detection of never-seen attack types (was 0.74 / 0.53)</a:t>
            </a:r>
          </a:p>
          <a:p>
            <a:pPr>
              <a:spcAft>
                <a:spcPts val="800"/>
              </a:spcAft>
            </a:pPr>
            <a:r>
              <a:rPr sz="1800" b="1"/>
              <a:t>Resists sabotage: </a:t>
            </a:r>
            <a:r>
              <a:rPr sz="1800" b="0"/>
              <a:t>steady with up to 40% malicious sites</a:t>
            </a:r>
          </a:p>
          <a:p>
            <a:pPr>
              <a:spcAft>
                <a:spcPts val="800"/>
              </a:spcAft>
            </a:pPr>
            <a:r>
              <a:rPr sz="1800" b="1"/>
              <a:t>Acts automatically: </a:t>
            </a:r>
            <a:r>
              <a:rPr sz="1800" b="0"/>
              <a:t>detected attacker blocked on the switch, verified</a:t>
            </a:r>
          </a:p>
          <a:p>
            <a:pPr>
              <a:spcAft>
                <a:spcPts val="800"/>
              </a:spcAft>
            </a:pPr>
            <a:r>
              <a:rPr sz="1800" b="1"/>
              <a:t>Honest data: </a:t>
            </a:r>
            <a:r>
              <a:rPr sz="1800" b="0"/>
              <a:t>found and repaired broken MITM rows; fixed a label leak first reported by Galal (2026)</a:t>
            </a:r>
          </a:p>
          <a:p>
            <a:pPr>
              <a:spcAft>
                <a:spcPts val="800"/>
              </a:spcAft>
            </a:pPr>
            <a:r>
              <a:rPr sz="1800" b="1"/>
              <a:t>What's novel: </a:t>
            </a:r>
            <a:r>
              <a:rPr sz="1800" b="0"/>
              <a:t>we found no published system combining all five parts, and the MITM repair</a:t>
            </a:r>
          </a:p>
          <a:p>
            <a:pPr>
              <a:spcAft>
                <a:spcPts val="800"/>
              </a:spcAft>
            </a:pPr>
            <a:r>
              <a:rPr sz="1800" b="1"/>
              <a:t>Project complete: </a:t>
            </a:r>
            <a:r>
              <a:rPr sz="1800" b="0"/>
              <a:t>every planned phase done and verified end to end; paper being written</a:t>
            </a:r>
          </a:p>
        </p:txBody>
      </p:sp>
      <p:sp>
        <p:nvSpPr>
          <p:cNvPr id="4" name="Footer Placeholder 3"/>
          <p:cNvSpPr>
            <a:spLocks noGrp="1"/>
          </p:cNvSpPr>
          <p:nvPr>
            <p:ph type="ftr" sz="quarter" idx="11"/>
          </p:nvPr>
        </p:nvSpPr>
        <p:spPr/>
        <p:txBody>
          <a:bodyPr/>
          <a:lstStyle/>
          <a:p>
            <a:r>
              <a:rPr lang="en-IN"/>
              <a:t>FL-IDS                         Department of CSE, BMSCE</a:t>
            </a:r>
          </a:p>
        </p:txBody>
      </p:sp>
      <p:sp>
        <p:nvSpPr>
          <p:cNvPr id="5" name="Slide Number Placeholder 4"/>
          <p:cNvSpPr>
            <a:spLocks noGrp="1"/>
          </p:cNvSpPr>
          <p:nvPr>
            <p:ph type="sldNum" sz="quarter" idx="12"/>
          </p:nvPr>
        </p:nvSpPr>
        <p:spPr/>
        <p:txBody>
          <a:bodyPr/>
          <a:lstStyle/>
          <a:p>
            <a:fld id="{840E0BF8-4B7D-46FA-B28A-DDF089F57DAF}" type="slidenum">
              <a:rPr lang="en-IN" smtClean="0"/>
              <a:t>11</a:t>
            </a:fld>
            <a:endParaRPr lang="en-IN"/>
          </a:p>
        </p:txBody>
      </p:sp>
      <p:pic>
        <p:nvPicPr>
          <p:cNvPr id="6"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028362" y="19050"/>
            <a:ext cx="1163638"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Date Placeholder 6"/>
          <p:cNvSpPr>
            <a:spLocks noGrp="1"/>
          </p:cNvSpPr>
          <p:nvPr>
            <p:ph type="dt" sz="half" idx="10"/>
          </p:nvPr>
        </p:nvSpPr>
        <p:spPr/>
        <p:txBody>
          <a:bodyPr/>
          <a:lstStyle/>
          <a:p>
            <a:r>
              <a:rPr lang="en-IN"/>
              <a:t>16-10-2026</a:t>
            </a:r>
          </a:p>
        </p:txBody>
      </p:sp>
    </p:spTree>
    <p:extLst>
      <p:ext uri="{BB962C8B-B14F-4D97-AF65-F5344CB8AC3E}">
        <p14:creationId xmlns:p14="http://schemas.microsoft.com/office/powerpoint/2010/main" val="5865835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Future Enhancements</a:t>
            </a:r>
          </a:p>
        </p:txBody>
      </p:sp>
      <p:sp>
        <p:nvSpPr>
          <p:cNvPr id="3" name="Content Placeholder 2"/>
          <p:cNvSpPr>
            <a:spLocks noGrp="1"/>
          </p:cNvSpPr>
          <p:nvPr>
            <p:ph idx="1"/>
          </p:nvPr>
        </p:nvSpPr>
        <p:spPr/>
        <p:txBody>
          <a:bodyPr wrap="square"/>
          <a:lstStyle/>
          <a:p>
            <a:pPr>
              <a:spcAft>
                <a:spcPts val="1000"/>
              </a:spcAft>
            </a:pPr>
            <a:r>
              <a:rPr sz="1900" b="0"/>
              <a:t>Send sparse updates and test pruned models on new attacks (pruning itself is done; communication is not yet reduced)</a:t>
            </a:r>
            <a:endParaRPr lang="en-IN"/>
          </a:p>
          <a:p>
            <a:pPr>
              <a:spcAft>
                <a:spcPts val="1000"/>
              </a:spcAft>
            </a:pPr>
            <a:r>
              <a:rPr sz="1900" b="0"/>
              <a:t>Block attacks while they are still happening (decide after the first few packets)</a:t>
            </a:r>
          </a:p>
          <a:p>
            <a:pPr>
              <a:spcAft>
                <a:spcPts val="1000"/>
              </a:spcAft>
            </a:pPr>
            <a:r>
              <a:rPr sz="1900" b="0"/>
              <a:t>Test smarter attackers, and more than 50% bad sites</a:t>
            </a:r>
          </a:p>
          <a:p>
            <a:pPr>
              <a:spcAft>
                <a:spcPts val="1000"/>
              </a:spcAft>
            </a:pPr>
            <a:r>
              <a:rPr sz="1900" b="0"/>
              <a:t>Repeat every federated experiment with several seeds</a:t>
            </a:r>
          </a:p>
          <a:p>
            <a:pPr>
              <a:spcAft>
                <a:spcPts val="1000"/>
              </a:spcAft>
            </a:pPr>
            <a:r>
              <a:rPr sz="1900" b="0"/>
              <a:t>Test on a second dataset that includes normal web traffic</a:t>
            </a:r>
          </a:p>
          <a:p>
            <a:pPr>
              <a:spcAft>
                <a:spcPts val="1000"/>
              </a:spcAft>
            </a:pPr>
            <a:r>
              <a:rPr sz="1900" b="0"/>
              <a:t>Deploy on real edge devices and a hardware switch</a:t>
            </a:r>
          </a:p>
        </p:txBody>
      </p:sp>
      <p:sp>
        <p:nvSpPr>
          <p:cNvPr id="4" name="Footer Placeholder 3"/>
          <p:cNvSpPr>
            <a:spLocks noGrp="1"/>
          </p:cNvSpPr>
          <p:nvPr>
            <p:ph type="ftr" sz="quarter" idx="11"/>
          </p:nvPr>
        </p:nvSpPr>
        <p:spPr/>
        <p:txBody>
          <a:bodyPr/>
          <a:lstStyle/>
          <a:p>
            <a:r>
              <a:rPr lang="en-IN"/>
              <a:t>FL-IDS                         Department of CSE, BMSCE</a:t>
            </a:r>
          </a:p>
        </p:txBody>
      </p:sp>
      <p:sp>
        <p:nvSpPr>
          <p:cNvPr id="5" name="Slide Number Placeholder 4"/>
          <p:cNvSpPr>
            <a:spLocks noGrp="1"/>
          </p:cNvSpPr>
          <p:nvPr>
            <p:ph type="sldNum" sz="quarter" idx="12"/>
          </p:nvPr>
        </p:nvSpPr>
        <p:spPr/>
        <p:txBody>
          <a:bodyPr/>
          <a:lstStyle/>
          <a:p>
            <a:fld id="{840E0BF8-4B7D-46FA-B28A-DDF089F57DAF}" type="slidenum">
              <a:rPr lang="en-IN" smtClean="0"/>
              <a:t>12</a:t>
            </a:fld>
            <a:endParaRPr lang="en-IN"/>
          </a:p>
        </p:txBody>
      </p:sp>
      <p:pic>
        <p:nvPicPr>
          <p:cNvPr id="6"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028362" y="19050"/>
            <a:ext cx="1163638"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Date Placeholder 6"/>
          <p:cNvSpPr>
            <a:spLocks noGrp="1"/>
          </p:cNvSpPr>
          <p:nvPr>
            <p:ph type="dt" sz="half" idx="10"/>
          </p:nvPr>
        </p:nvSpPr>
        <p:spPr/>
        <p:txBody>
          <a:bodyPr/>
          <a:lstStyle/>
          <a:p>
            <a:r>
              <a:rPr lang="en-IN"/>
              <a:t>16-10-2026</a:t>
            </a:r>
          </a:p>
        </p:txBody>
      </p:sp>
    </p:spTree>
    <p:extLst>
      <p:ext uri="{BB962C8B-B14F-4D97-AF65-F5344CB8AC3E}">
        <p14:creationId xmlns:p14="http://schemas.microsoft.com/office/powerpoint/2010/main" val="39544422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Papers Published</a:t>
            </a:r>
          </a:p>
        </p:txBody>
      </p:sp>
      <p:sp>
        <p:nvSpPr>
          <p:cNvPr id="3" name="Content Placeholder 2"/>
          <p:cNvSpPr>
            <a:spLocks noGrp="1"/>
          </p:cNvSpPr>
          <p:nvPr>
            <p:ph idx="1"/>
          </p:nvPr>
        </p:nvSpPr>
        <p:spPr/>
        <p:txBody>
          <a:bodyPr wrap="square"/>
          <a:lstStyle/>
          <a:p>
            <a:pPr>
              <a:spcAft>
                <a:spcPts val="1200"/>
              </a:spcAft>
            </a:pPr>
            <a:r>
              <a:rPr sz="2000" b="1"/>
              <a:t>Status: </a:t>
            </a:r>
            <a:r>
              <a:rPr sz="2000" b="0"/>
              <a:t>paper in preparation (draft in progress)</a:t>
            </a:r>
            <a:endParaRPr lang="en-IN"/>
          </a:p>
          <a:p>
            <a:pPr>
              <a:spcAft>
                <a:spcPts val="1200"/>
              </a:spcAft>
            </a:pPr>
            <a:r>
              <a:rPr sz="2000" b="1"/>
              <a:t>Working title: </a:t>
            </a:r>
            <a:r>
              <a:rPr sz="2000" b="0"/>
              <a:t>FL-IDS: Federated Learning-Based Intrusion Detection System for IoT/IIoT</a:t>
            </a:r>
          </a:p>
          <a:p>
            <a:pPr>
              <a:spcAft>
                <a:spcPts val="1200"/>
              </a:spcAft>
            </a:pPr>
            <a:r>
              <a:rPr sz="2000" b="1"/>
              <a:t>Venue: </a:t>
            </a:r>
            <a:r>
              <a:rPr sz="2000" b="0"/>
              <a:t>not yet submitted</a:t>
            </a:r>
          </a:p>
        </p:txBody>
      </p:sp>
      <p:sp>
        <p:nvSpPr>
          <p:cNvPr id="4" name="Footer Placeholder 3"/>
          <p:cNvSpPr>
            <a:spLocks noGrp="1"/>
          </p:cNvSpPr>
          <p:nvPr>
            <p:ph type="ftr" sz="quarter" idx="11"/>
          </p:nvPr>
        </p:nvSpPr>
        <p:spPr/>
        <p:txBody>
          <a:bodyPr/>
          <a:lstStyle/>
          <a:p>
            <a:r>
              <a:rPr lang="en-IN"/>
              <a:t>FL-IDS                         Department of CSE, BMSCE</a:t>
            </a:r>
          </a:p>
        </p:txBody>
      </p:sp>
      <p:sp>
        <p:nvSpPr>
          <p:cNvPr id="5" name="Slide Number Placeholder 4"/>
          <p:cNvSpPr>
            <a:spLocks noGrp="1"/>
          </p:cNvSpPr>
          <p:nvPr>
            <p:ph type="sldNum" sz="quarter" idx="12"/>
          </p:nvPr>
        </p:nvSpPr>
        <p:spPr/>
        <p:txBody>
          <a:bodyPr/>
          <a:lstStyle/>
          <a:p>
            <a:fld id="{840E0BF8-4B7D-46FA-B28A-DDF089F57DAF}" type="slidenum">
              <a:rPr lang="en-IN" smtClean="0"/>
              <a:t>13</a:t>
            </a:fld>
            <a:endParaRPr lang="en-IN"/>
          </a:p>
        </p:txBody>
      </p:sp>
      <p:pic>
        <p:nvPicPr>
          <p:cNvPr id="6"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028362" y="19050"/>
            <a:ext cx="1163638"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Date Placeholder 6"/>
          <p:cNvSpPr>
            <a:spLocks noGrp="1"/>
          </p:cNvSpPr>
          <p:nvPr>
            <p:ph type="dt" sz="half" idx="10"/>
          </p:nvPr>
        </p:nvSpPr>
        <p:spPr/>
        <p:txBody>
          <a:bodyPr/>
          <a:lstStyle/>
          <a:p>
            <a:r>
              <a:rPr lang="en-IN"/>
              <a:t>16-10-2026</a:t>
            </a:r>
          </a:p>
        </p:txBody>
      </p:sp>
    </p:spTree>
    <p:extLst>
      <p:ext uri="{BB962C8B-B14F-4D97-AF65-F5344CB8AC3E}">
        <p14:creationId xmlns:p14="http://schemas.microsoft.com/office/powerpoint/2010/main" val="33738613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References </a:t>
            </a:r>
          </a:p>
        </p:txBody>
      </p:sp>
      <p:sp>
        <p:nvSpPr>
          <p:cNvPr id="3" name="Content Placeholder 2"/>
          <p:cNvSpPr>
            <a:spLocks noGrp="1"/>
          </p:cNvSpPr>
          <p:nvPr>
            <p:ph idx="1"/>
          </p:nvPr>
        </p:nvSpPr>
        <p:spPr/>
        <p:txBody>
          <a:bodyPr wrap="square"/>
          <a:lstStyle/>
          <a:p>
            <a:pPr>
              <a:spcAft>
                <a:spcPts val="300"/>
              </a:spcAft>
            </a:pPr>
            <a:r>
              <a:rPr sz="1300" b="0"/>
              <a:t>M. A. Ferrag et al., “Edge-IIoTset: A new comprehensive realistic cyber security dataset of IoT and IIoT applications for centralized and federated learning,” IEEE Access, vol. 10, pp. 40281–40306, 2022.</a:t>
            </a:r>
            <a:endParaRPr lang="en-IN"/>
          </a:p>
          <a:p>
            <a:pPr>
              <a:spcAft>
                <a:spcPts val="300"/>
              </a:spcAft>
            </a:pPr>
            <a:r>
              <a:rPr sz="1300" b="0"/>
              <a:t>V. Mothukuri et al., “Federated-learning-based anomaly detection for IoT security attacks,” IEEE IoT Journal, vol. 9, no. 4, 2022.</a:t>
            </a:r>
          </a:p>
          <a:p>
            <a:pPr>
              <a:spcAft>
                <a:spcPts val="300"/>
              </a:spcAft>
            </a:pPr>
            <a:r>
              <a:rPr sz="1300" b="0"/>
              <a:t>B. Li et al., “DeepFed: Federated deep learning for intrusion detection in industrial cyber–physical systems,” IEEE TII, vol. 17, no. 8, 2021.</a:t>
            </a:r>
          </a:p>
          <a:p>
            <a:pPr>
              <a:spcAft>
                <a:spcPts val="300"/>
              </a:spcAft>
            </a:pPr>
            <a:r>
              <a:rPr sz="1300" b="0"/>
              <a:t>X. Cao, M. Fang, J. Liu, N. Z. Gong, “FLTrust: Byzantine-robust federated learning via trust bootstrapping,” NDSS, 2021.</a:t>
            </a:r>
          </a:p>
          <a:p>
            <a:pPr>
              <a:spcAft>
                <a:spcPts val="300"/>
              </a:spcAft>
            </a:pPr>
            <a:r>
              <a:rPr sz="1300" b="0"/>
              <a:t>J. Xu et al., “Byzantine-robust federated learning through collaborative malicious gradient filtering (SignGuard),” IEEE ICDCS, 2022.</a:t>
            </a:r>
          </a:p>
          <a:p>
            <a:pPr>
              <a:spcAft>
                <a:spcPts val="300"/>
              </a:spcAft>
            </a:pPr>
            <a:r>
              <a:rPr sz="1300" b="0"/>
              <a:t>H. Zhang et al., “A two-stage intrusion detection method based on LightGBM and autoencoder,” Math. Biosci. Eng., vol. 20, no. 4, 2023.</a:t>
            </a:r>
          </a:p>
          <a:p>
            <a:pPr>
              <a:spcAft>
                <a:spcPts val="300"/>
              </a:spcAft>
            </a:pPr>
            <a:r>
              <a:rPr sz="1300" b="0"/>
              <a:t>Z. Abou El Houda, A. S. Hafid, L. Khoukhi, “MiTFed: … federated learning using SDN and blockchain,” IEEE TNSE, vol. 10, no. 4, 2023.</a:t>
            </a:r>
          </a:p>
          <a:p>
            <a:pPr>
              <a:spcAft>
                <a:spcPts val="300"/>
              </a:spcAft>
            </a:pPr>
            <a:r>
              <a:rPr sz="1300" b="0"/>
              <a:t>J. L. Hernandez-Ramos et al., “Intrusion detection based on federated learning: a systematic review,” ACM Computing Surveys, vol. 57, no. 12, 2025.</a:t>
            </a:r>
          </a:p>
          <a:p>
            <a:pPr>
              <a:spcAft>
                <a:spcPts val="300"/>
              </a:spcAft>
            </a:pPr>
            <a:r>
              <a:rPr sz="1300" b="0"/>
              <a:t>I. Sharafaldin, A. H. Lashkari, A. A. Ghorbani, “Toward generating a new intrusion detection dataset and intrusion traffic characterization,” ICISSP, 2018.</a:t>
            </a:r>
          </a:p>
        </p:txBody>
      </p:sp>
      <p:sp>
        <p:nvSpPr>
          <p:cNvPr id="4" name="Footer Placeholder 3"/>
          <p:cNvSpPr>
            <a:spLocks noGrp="1"/>
          </p:cNvSpPr>
          <p:nvPr>
            <p:ph type="ftr" sz="quarter" idx="11"/>
          </p:nvPr>
        </p:nvSpPr>
        <p:spPr/>
        <p:txBody>
          <a:bodyPr/>
          <a:lstStyle/>
          <a:p>
            <a:r>
              <a:rPr lang="en-IN"/>
              <a:t>FL-IDS                         Department of CSE, BMSCE</a:t>
            </a:r>
          </a:p>
        </p:txBody>
      </p:sp>
      <p:sp>
        <p:nvSpPr>
          <p:cNvPr id="5" name="Slide Number Placeholder 4"/>
          <p:cNvSpPr>
            <a:spLocks noGrp="1"/>
          </p:cNvSpPr>
          <p:nvPr>
            <p:ph type="sldNum" sz="quarter" idx="12"/>
          </p:nvPr>
        </p:nvSpPr>
        <p:spPr/>
        <p:txBody>
          <a:bodyPr/>
          <a:lstStyle/>
          <a:p>
            <a:fld id="{840E0BF8-4B7D-46FA-B28A-DDF089F57DAF}" type="slidenum">
              <a:rPr lang="en-IN" smtClean="0"/>
              <a:t>14</a:t>
            </a:fld>
            <a:endParaRPr lang="en-IN"/>
          </a:p>
        </p:txBody>
      </p:sp>
      <p:pic>
        <p:nvPicPr>
          <p:cNvPr id="6"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028362" y="19050"/>
            <a:ext cx="1163638"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Date Placeholder 6"/>
          <p:cNvSpPr>
            <a:spLocks noGrp="1"/>
          </p:cNvSpPr>
          <p:nvPr>
            <p:ph type="dt" sz="half" idx="10"/>
          </p:nvPr>
        </p:nvSpPr>
        <p:spPr/>
        <p:txBody>
          <a:bodyPr/>
          <a:lstStyle/>
          <a:p>
            <a:r>
              <a:rPr lang="en-IN"/>
              <a:t>16-10-2026</a:t>
            </a:r>
          </a:p>
        </p:txBody>
      </p:sp>
    </p:spTree>
    <p:extLst>
      <p:ext uri="{BB962C8B-B14F-4D97-AF65-F5344CB8AC3E}">
        <p14:creationId xmlns:p14="http://schemas.microsoft.com/office/powerpoint/2010/main" val="40970498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lstStyle/>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lgn="ctr">
              <a:buNone/>
            </a:pPr>
            <a:r>
              <a:rPr lang="en-IN" sz="5400" dirty="0"/>
              <a:t>Thank You</a:t>
            </a:r>
          </a:p>
        </p:txBody>
      </p:sp>
      <p:sp>
        <p:nvSpPr>
          <p:cNvPr id="4" name="Footer Placeholder 3"/>
          <p:cNvSpPr>
            <a:spLocks noGrp="1"/>
          </p:cNvSpPr>
          <p:nvPr>
            <p:ph type="ftr" sz="quarter" idx="11"/>
          </p:nvPr>
        </p:nvSpPr>
        <p:spPr/>
        <p:txBody>
          <a:bodyPr/>
          <a:lstStyle/>
          <a:p>
            <a:r>
              <a:rPr lang="en-IN"/>
              <a:t>FL-IDS                         Department of CSE, BMSCE</a:t>
            </a:r>
          </a:p>
        </p:txBody>
      </p:sp>
      <p:sp>
        <p:nvSpPr>
          <p:cNvPr id="5" name="Slide Number Placeholder 4"/>
          <p:cNvSpPr>
            <a:spLocks noGrp="1"/>
          </p:cNvSpPr>
          <p:nvPr>
            <p:ph type="sldNum" sz="quarter" idx="12"/>
          </p:nvPr>
        </p:nvSpPr>
        <p:spPr/>
        <p:txBody>
          <a:bodyPr/>
          <a:lstStyle/>
          <a:p>
            <a:fld id="{840E0BF8-4B7D-46FA-B28A-DDF089F57DAF}" type="slidenum">
              <a:rPr lang="en-IN" smtClean="0"/>
              <a:t>15</a:t>
            </a:fld>
            <a:endParaRPr lang="en-IN"/>
          </a:p>
        </p:txBody>
      </p:sp>
      <p:pic>
        <p:nvPicPr>
          <p:cNvPr id="6"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028362" y="19050"/>
            <a:ext cx="1163638"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Date Placeholder 6"/>
          <p:cNvSpPr>
            <a:spLocks noGrp="1"/>
          </p:cNvSpPr>
          <p:nvPr>
            <p:ph type="dt" sz="half" idx="10"/>
          </p:nvPr>
        </p:nvSpPr>
        <p:spPr/>
        <p:txBody>
          <a:bodyPr/>
          <a:lstStyle/>
          <a:p>
            <a:r>
              <a:rPr lang="en-IN"/>
              <a:t>16-10-2026</a:t>
            </a:r>
          </a:p>
        </p:txBody>
      </p:sp>
    </p:spTree>
    <p:extLst>
      <p:ext uri="{BB962C8B-B14F-4D97-AF65-F5344CB8AC3E}">
        <p14:creationId xmlns:p14="http://schemas.microsoft.com/office/powerpoint/2010/main" val="3778863572"/>
      </p:ext>
    </p:extLst>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en-US" dirty="0"/>
              <a:t>Results: The Whole Dataset</a:t>
            </a:r>
            <a:endParaRPr lang="en-IN" dirty="0"/>
          </a:p>
        </p:txBody>
      </p:sp>
      <p:sp>
        <p:nvSpPr>
          <p:cNvPr id="4" name="Footer Placeholder 3"/>
          <p:cNvSpPr>
            <a:spLocks noGrp="1"/>
          </p:cNvSpPr>
          <p:nvPr>
            <p:ph type="ftr" sz="quarter" idx="11"/>
          </p:nvPr>
        </p:nvSpPr>
        <p:spPr/>
        <p:txBody>
          <a:bodyPr/>
          <a:lstStyle/>
          <a:p>
            <a:r>
              <a:rPr lang="en-IN"/>
              <a:t>FL-IDS                         Department of CSE, BMSCE</a:t>
            </a:r>
          </a:p>
        </p:txBody>
      </p:sp>
      <p:sp>
        <p:nvSpPr>
          <p:cNvPr id="5" name="Slide Number Placeholder 4"/>
          <p:cNvSpPr>
            <a:spLocks noGrp="1"/>
          </p:cNvSpPr>
          <p:nvPr>
            <p:ph type="sldNum" sz="quarter" idx="12"/>
          </p:nvPr>
        </p:nvSpPr>
        <p:spPr/>
        <p:txBody>
          <a:bodyPr/>
          <a:lstStyle/>
          <a:p>
            <a:fld id="{840E0BF8-4B7D-46FA-B28A-DDF089F57DAF}" type="slidenum">
              <a:rPr lang="en-IN" smtClean="0"/>
              <a:t>10</a:t>
            </a:fld>
            <a:endParaRPr lang="en-IN"/>
          </a:p>
        </p:txBody>
      </p:sp>
      <p:pic>
        <p:nvPicPr>
          <p:cNvPr id="6" name="Picture 5" descr="image.jpeg"/>
          <p:cNvPicPr>
            <a:picLocks noChangeAspect="1"/>
          </p:cNvPicPr>
          <p:nvPr/>
        </p:nvPicPr>
        <p:blipFill>
          <a:blip r:embed="rId2"/>
          <a:stretch>
            <a:fillRect/>
          </a:stretch>
        </p:blipFill>
        <p:spPr>
          <a:xfrm>
            <a:off x="11028362" y="19050"/>
            <a:ext cx="1163638" cy="1144588"/>
          </a:xfrm>
          <a:prstGeom prst="rect">
            <a:avLst/>
          </a:prstGeom>
        </p:spPr>
      </p:pic>
      <p:sp>
        <p:nvSpPr>
          <p:cNvPr id="7" name="Date Placeholder 6"/>
          <p:cNvSpPr>
            <a:spLocks noGrp="1"/>
          </p:cNvSpPr>
          <p:nvPr>
            <p:ph type="dt" sz="half" idx="10"/>
          </p:nvPr>
        </p:nvSpPr>
        <p:spPr/>
        <p:txBody>
          <a:bodyPr/>
          <a:lstStyle/>
          <a:p>
            <a:r>
              <a:rPr lang="en-IN"/>
              <a:t>16-10-2026</a:t>
            </a:r>
          </a:p>
        </p:txBody>
      </p:sp>
      <p:pic>
        <p:nvPicPr>
          <p:cNvPr id="8" name="Picture 7" descr="image.png"/>
          <p:cNvPicPr>
            <a:picLocks noChangeAspect="1"/>
          </p:cNvPicPr>
          <p:nvPr/>
        </p:nvPicPr>
        <p:blipFill>
          <a:blip r:embed="rId3"/>
          <a:stretch>
            <a:fillRect/>
          </a:stretch>
        </p:blipFill>
        <p:spPr>
          <a:xfrm>
            <a:off x="1436068" y="1540688"/>
            <a:ext cx="9319863" cy="3000000"/>
          </a:xfrm>
          <a:prstGeom prst="rect">
            <a:avLst/>
          </a:prstGeom>
        </p:spPr>
      </p:pic>
      <p:sp>
        <p:nvSpPr>
          <p:cNvPr id="9" name="Rounded Rectangle 8"/>
          <p:cNvSpPr/>
          <p:nvPr/>
        </p:nvSpPr>
        <p:spPr>
          <a:xfrm>
            <a:off x="838200" y="4640688"/>
            <a:ext cx="10515600" cy="1250000"/>
          </a:xfrm>
          <a:prstGeom prst="roundRect">
            <a:avLst>
              <a:gd name="adj" fmla="val 6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50000" rIns="150000" tIns="120000"/>
          <a:lstStyle/>
          <a:p>
            <a:pPr algn="l"/>
            <a:r>
              <a:rPr sz="1500" b="1">
                <a:solidFill>
                  <a:srgbClr val="1E2761"/>
                </a:solidFill>
              </a:rPr>
              <a:t>What it shows</a:t>
            </a:r>
          </a:p>
          <a:p>
            <a:pPr algn="l">
              <a:spcBef>
                <a:spcPts val="500"/>
              </a:spcBef>
            </a:pPr>
            <a:r>
              <a:rPr sz="1400" b="0">
                <a:solidFill>
                  <a:srgbClr val="1B1B1B"/>
                </a:solidFill>
              </a:rPr>
              <a:t>Everything now trains on all 1.99 million usable messages, with each conversation kept on one side of the exam. Known attacks: still 99.6% caught. False alarms: about 3% for a typical site, up to 16% of all normal packets, because a few very long normal conversations get flagged (under 1% of conversations). New attacks: 90–94% detected (was 94–95%). All 14 recorded attacks are blocked in the live demo; 12 are named correctly.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TotalTime>
  <Words>374</Words>
  <Application>Microsoft Office PowerPoint</Application>
  <PresentationFormat>Widescreen</PresentationFormat>
  <Paragraphs>83</Paragraphs>
  <Slides>15</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Calibri Light</vt:lpstr>
      <vt:lpstr>Office Theme</vt:lpstr>
      <vt:lpstr>Title of the Project  Team-Member-1          Team-Member-2        Team-Member-3            Team-Member-4 USN     USN                           USN                                    USN</vt:lpstr>
      <vt:lpstr>OUTLINE</vt:lpstr>
      <vt:lpstr>Note</vt:lpstr>
      <vt:lpstr>Sustainable Development Goals (SDGs) Addressed</vt:lpstr>
      <vt:lpstr>Collaboration</vt:lpstr>
      <vt:lpstr>Problem Statement </vt:lpstr>
      <vt:lpstr>High level Design</vt:lpstr>
      <vt:lpstr>Detailed Design</vt:lpstr>
      <vt:lpstr>Implementation</vt:lpstr>
      <vt:lpstr>Results</vt:lpstr>
      <vt:lpstr>Conclusion</vt:lpstr>
      <vt:lpstr>Future Enhancements</vt:lpstr>
      <vt:lpstr>Papers published </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the Project  Team-Member-1          Team-Member-2        Team-Member-3            Team-Member-4 USN     USN                           USN                                    USN</dc:title>
  <dc:creator>UMADEVI V</dc:creator>
  <cp:lastModifiedBy>BMSCECSE</cp:lastModifiedBy>
  <cp:revision>7</cp:revision>
  <dcterms:created xsi:type="dcterms:W3CDTF">2022-11-15T07:48:48Z</dcterms:created>
  <dcterms:modified xsi:type="dcterms:W3CDTF">2025-02-20T06:41:41Z</dcterms:modified>
</cp:coreProperties>
</file>